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0078E8-B992-4FAA-AFB0-722B8B7FE6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816FF3-C414-4499-BA54-A43A72F138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FBFD72-14B9-4D72-9A29-DF6397E5E6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506E4F-4760-43DC-A159-76615C914B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0E20F2-4898-44E9-B6C6-878BE43F93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5AD1F7-AA58-4E42-85F2-956088132E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D021E6-6AD1-4B69-AAF4-E03F2639CF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D21D95-C735-4229-98C5-033E75E927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CEA9BF-D522-4541-94EF-EBEEE13935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C5FB10-9F93-430F-8645-26AA573A05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AE35BE-2A85-4960-8ED3-5639583166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5257800"/>
            <a:ext cx="12188520" cy="6372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5321880"/>
            <a:ext cx="12188520" cy="1535760"/>
          </a:xfrm>
          <a:prstGeom prst="rect">
            <a:avLst/>
          </a:prstGeom>
          <a:solidFill>
            <a:srgbClr val="061A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11457360" y="0"/>
            <a:ext cx="731160" cy="52574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02920" y="7772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联邦谱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02920" y="1810440"/>
            <a:ext cx="10058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100" b="0" u="none" strike="noStrike">
                <a:solidFill>
                  <a:srgbClr val="7EC8E3"/>
                </a:solidFill>
                <a:effectLst/>
                <a:uFillTx/>
                <a:latin typeface="Calibri"/>
              </a:rPr>
              <a:t>基于随机矩阵理</a:t>
            </a:r>
            <a:r>
              <a:rPr lang="zh-CN" sz="2100" b="0" u="none" strike="noStrike">
                <a:solidFill>
                  <a:srgbClr val="7EC8E3"/>
                </a:solidFill>
                <a:effectLst/>
                <a:uFillTx/>
                <a:latin typeface="Calibri"/>
              </a:rPr>
              <a:t>论的电网云边协</a:t>
            </a:r>
            <a:r>
              <a:rPr lang="zh-CN" sz="2100" b="0" u="none" strike="noStrike">
                <a:solidFill>
                  <a:srgbClr val="7EC8E3"/>
                </a:solidFill>
                <a:effectLst/>
                <a:uFillTx/>
                <a:latin typeface="Calibri"/>
              </a:rPr>
              <a:t>同异常检测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502920" y="2487240"/>
            <a:ext cx="5303160" cy="4536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502920" y="2615040"/>
            <a:ext cx="10515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Federated Spectral Transformer for Smart Grid Cloud-Edge Anomaly Detection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502920" y="3063240"/>
            <a:ext cx="9600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数据集：</a:t>
            </a:r>
            <a:r>
              <a:rPr lang="en-US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SGCC </a:t>
            </a:r>
            <a:r>
              <a:rPr lang="zh-CN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国家电网  </a:t>
            </a:r>
            <a:r>
              <a:rPr lang="en-US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|  42,372 </a:t>
            </a:r>
            <a:r>
              <a:rPr lang="zh-CN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用户  </a:t>
            </a:r>
            <a:r>
              <a:rPr lang="en-US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|  1,000+ </a:t>
            </a:r>
            <a:r>
              <a:rPr lang="zh-CN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502920" y="3703320"/>
            <a:ext cx="2057040" cy="1142640"/>
          </a:xfrm>
          <a:prstGeom prst="rect">
            <a:avLst/>
          </a:prstGeom>
          <a:solidFill>
            <a:srgbClr val="1A3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502920" y="3749040"/>
            <a:ext cx="2057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① RMT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502920" y="4242960"/>
            <a:ext cx="205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零标签谱分析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2926080" y="3703320"/>
            <a:ext cx="2057040" cy="1142640"/>
          </a:xfrm>
          <a:prstGeom prst="rect">
            <a:avLst/>
          </a:prstGeom>
          <a:solidFill>
            <a:srgbClr val="1A3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2926080" y="3749040"/>
            <a:ext cx="2057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② 28</a:t>
            </a:r>
            <a:r>
              <a:rPr lang="zh-CN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2926080" y="4242960"/>
            <a:ext cx="205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谱</a:t>
            </a: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Token</a:t>
            </a:r>
            <a:r>
              <a:rPr lang="zh-CN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工程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16"/>
          <p:cNvSpPr/>
          <p:nvPr/>
        </p:nvSpPr>
        <p:spPr>
          <a:xfrm>
            <a:off x="5349240" y="3703320"/>
            <a:ext cx="2057040" cy="1142640"/>
          </a:xfrm>
          <a:prstGeom prst="rect">
            <a:avLst/>
          </a:prstGeom>
          <a:solidFill>
            <a:srgbClr val="1A3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5349240" y="3749040"/>
            <a:ext cx="2057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③ 双路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5349240" y="4242960"/>
            <a:ext cx="205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Transformer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9"/>
          <p:cNvSpPr/>
          <p:nvPr/>
        </p:nvSpPr>
        <p:spPr>
          <a:xfrm>
            <a:off x="7772400" y="3703320"/>
            <a:ext cx="2057040" cy="1142640"/>
          </a:xfrm>
          <a:prstGeom prst="rect">
            <a:avLst/>
          </a:prstGeom>
          <a:solidFill>
            <a:srgbClr val="1A3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7772400" y="3749040"/>
            <a:ext cx="2057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④ Fed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7772400" y="4242960"/>
            <a:ext cx="205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联邦学习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22"/>
          <p:cNvSpPr/>
          <p:nvPr/>
        </p:nvSpPr>
        <p:spPr>
          <a:xfrm>
            <a:off x="10149840" y="3703320"/>
            <a:ext cx="2057040" cy="1142640"/>
          </a:xfrm>
          <a:prstGeom prst="rect">
            <a:avLst/>
          </a:prstGeom>
          <a:solidFill>
            <a:srgbClr val="1A3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3"/>
          <p:cNvSpPr/>
          <p:nvPr/>
        </p:nvSpPr>
        <p:spPr>
          <a:xfrm>
            <a:off x="10149840" y="3749040"/>
            <a:ext cx="2057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⑤ Stack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10149840" y="4242960"/>
            <a:ext cx="205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集成决策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502920" y="4956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中期汇报  </a:t>
            </a:r>
            <a:r>
              <a:rPr lang="en-US" sz="12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|  </a:t>
            </a:r>
            <a:r>
              <a:rPr lang="zh-CN" sz="12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汇报日期：</a:t>
            </a:r>
            <a:r>
              <a:rPr lang="en-US" sz="12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2026 </a:t>
            </a:r>
            <a:r>
              <a:rPr lang="zh-CN" sz="12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年 </a:t>
            </a:r>
            <a:r>
              <a:rPr lang="en-US" sz="12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4 </a:t>
            </a:r>
            <a:r>
              <a:rPr lang="zh-CN" sz="12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6"/>
          <p:cNvSpPr/>
          <p:nvPr/>
        </p:nvSpPr>
        <p:spPr>
          <a:xfrm>
            <a:off x="6400800" y="495612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集成 </a:t>
            </a:r>
            <a:r>
              <a:rPr lang="en-US" sz="12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AUC = 0.7651  (+17.9pp vs. </a:t>
            </a:r>
            <a:r>
              <a:rPr lang="zh-CN" sz="12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零标签基线</a:t>
            </a:r>
            <a:r>
              <a:rPr lang="en-US" sz="12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目  录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Outline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9"/>
          <p:cNvSpPr/>
          <p:nvPr/>
        </p:nvSpPr>
        <p:spPr>
          <a:xfrm>
            <a:off x="320040" y="111564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320040" y="118872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1"/>
          <p:cNvSpPr/>
          <p:nvPr/>
        </p:nvSpPr>
        <p:spPr>
          <a:xfrm>
            <a:off x="795600" y="111564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923400" y="12254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研究背景与问题定义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13"/>
          <p:cNvSpPr/>
          <p:nvPr/>
        </p:nvSpPr>
        <p:spPr>
          <a:xfrm>
            <a:off x="6309360" y="111564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6309360" y="118872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5"/>
          <p:cNvSpPr/>
          <p:nvPr/>
        </p:nvSpPr>
        <p:spPr>
          <a:xfrm>
            <a:off x="6784920" y="111564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6912720" y="12254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传统方法的局限与挑战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17"/>
          <p:cNvSpPr/>
          <p:nvPr/>
        </p:nvSpPr>
        <p:spPr>
          <a:xfrm>
            <a:off x="320040" y="192024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320040" y="199332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9"/>
          <p:cNvSpPr/>
          <p:nvPr/>
        </p:nvSpPr>
        <p:spPr>
          <a:xfrm>
            <a:off x="795600" y="192024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923400" y="20300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本文创新算法总览（五大贡献）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1"/>
          <p:cNvSpPr/>
          <p:nvPr/>
        </p:nvSpPr>
        <p:spPr>
          <a:xfrm>
            <a:off x="6309360" y="192024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6309360" y="199332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23"/>
          <p:cNvSpPr/>
          <p:nvPr/>
        </p:nvSpPr>
        <p:spPr>
          <a:xfrm>
            <a:off x="6784920" y="192024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4"/>
          <p:cNvSpPr/>
          <p:nvPr/>
        </p:nvSpPr>
        <p:spPr>
          <a:xfrm>
            <a:off x="6912720" y="20300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</a:t>
            </a: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谱分析理论与实现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25"/>
          <p:cNvSpPr/>
          <p:nvPr/>
        </p:nvSpPr>
        <p:spPr>
          <a:xfrm>
            <a:off x="320040" y="272484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6"/>
          <p:cNvSpPr/>
          <p:nvPr/>
        </p:nvSpPr>
        <p:spPr>
          <a:xfrm>
            <a:off x="320040" y="279792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27"/>
          <p:cNvSpPr/>
          <p:nvPr/>
        </p:nvSpPr>
        <p:spPr>
          <a:xfrm>
            <a:off x="795600" y="272484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8"/>
          <p:cNvSpPr/>
          <p:nvPr/>
        </p:nvSpPr>
        <p:spPr>
          <a:xfrm>
            <a:off x="923400" y="28346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28</a:t>
            </a: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维谱</a:t>
            </a: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Token</a:t>
            </a: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特征工程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29"/>
          <p:cNvSpPr/>
          <p:nvPr/>
        </p:nvSpPr>
        <p:spPr>
          <a:xfrm>
            <a:off x="6309360" y="272484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30"/>
          <p:cNvSpPr/>
          <p:nvPr/>
        </p:nvSpPr>
        <p:spPr>
          <a:xfrm>
            <a:off x="6309360" y="279792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31"/>
          <p:cNvSpPr/>
          <p:nvPr/>
        </p:nvSpPr>
        <p:spPr>
          <a:xfrm>
            <a:off x="6784920" y="272484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32"/>
          <p:cNvSpPr/>
          <p:nvPr/>
        </p:nvSpPr>
        <p:spPr>
          <a:xfrm>
            <a:off x="6912720" y="28346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双路注意力</a:t>
            </a: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33"/>
          <p:cNvSpPr/>
          <p:nvPr/>
        </p:nvSpPr>
        <p:spPr>
          <a:xfrm>
            <a:off x="320040" y="352944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34"/>
          <p:cNvSpPr/>
          <p:nvPr/>
        </p:nvSpPr>
        <p:spPr>
          <a:xfrm>
            <a:off x="320040" y="360288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35"/>
          <p:cNvSpPr/>
          <p:nvPr/>
        </p:nvSpPr>
        <p:spPr>
          <a:xfrm>
            <a:off x="795600" y="352944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36"/>
          <p:cNvSpPr/>
          <p:nvPr/>
        </p:nvSpPr>
        <p:spPr>
          <a:xfrm>
            <a:off x="923400" y="36392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端到端完整数据流框图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37"/>
          <p:cNvSpPr/>
          <p:nvPr/>
        </p:nvSpPr>
        <p:spPr>
          <a:xfrm>
            <a:off x="6309360" y="352944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38"/>
          <p:cNvSpPr/>
          <p:nvPr/>
        </p:nvSpPr>
        <p:spPr>
          <a:xfrm>
            <a:off x="6309360" y="360288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39"/>
          <p:cNvSpPr/>
          <p:nvPr/>
        </p:nvSpPr>
        <p:spPr>
          <a:xfrm>
            <a:off x="6784920" y="352944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40"/>
          <p:cNvSpPr/>
          <p:nvPr/>
        </p:nvSpPr>
        <p:spPr>
          <a:xfrm>
            <a:off x="6912720" y="36392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联邦学习框架（</a:t>
            </a: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FedAvg</a:t>
            </a: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41"/>
          <p:cNvSpPr/>
          <p:nvPr/>
        </p:nvSpPr>
        <p:spPr>
          <a:xfrm>
            <a:off x="320040" y="433440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42"/>
          <p:cNvSpPr/>
          <p:nvPr/>
        </p:nvSpPr>
        <p:spPr>
          <a:xfrm>
            <a:off x="320040" y="440748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43"/>
          <p:cNvSpPr/>
          <p:nvPr/>
        </p:nvSpPr>
        <p:spPr>
          <a:xfrm>
            <a:off x="795600" y="433440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44"/>
          <p:cNvSpPr/>
          <p:nvPr/>
        </p:nvSpPr>
        <p:spPr>
          <a:xfrm>
            <a:off x="923400" y="44438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XGBoost</a:t>
            </a: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集成 </a:t>
            </a: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&amp; Stacking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45"/>
          <p:cNvSpPr/>
          <p:nvPr/>
        </p:nvSpPr>
        <p:spPr>
          <a:xfrm>
            <a:off x="6309360" y="433440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46"/>
          <p:cNvSpPr/>
          <p:nvPr/>
        </p:nvSpPr>
        <p:spPr>
          <a:xfrm>
            <a:off x="6309360" y="440748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47"/>
          <p:cNvSpPr/>
          <p:nvPr/>
        </p:nvSpPr>
        <p:spPr>
          <a:xfrm>
            <a:off x="6784920" y="433440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48"/>
          <p:cNvSpPr/>
          <p:nvPr/>
        </p:nvSpPr>
        <p:spPr>
          <a:xfrm>
            <a:off x="6912720" y="444384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对比实验设计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49"/>
          <p:cNvSpPr/>
          <p:nvPr/>
        </p:nvSpPr>
        <p:spPr>
          <a:xfrm>
            <a:off x="320040" y="513900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50"/>
          <p:cNvSpPr/>
          <p:nvPr/>
        </p:nvSpPr>
        <p:spPr>
          <a:xfrm>
            <a:off x="320040" y="521208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51"/>
          <p:cNvSpPr/>
          <p:nvPr/>
        </p:nvSpPr>
        <p:spPr>
          <a:xfrm>
            <a:off x="795600" y="513900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52"/>
          <p:cNvSpPr/>
          <p:nvPr/>
        </p:nvSpPr>
        <p:spPr>
          <a:xfrm>
            <a:off x="923400" y="524880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消融实验设计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53"/>
          <p:cNvSpPr/>
          <p:nvPr/>
        </p:nvSpPr>
        <p:spPr>
          <a:xfrm>
            <a:off x="6309360" y="513900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54"/>
          <p:cNvSpPr/>
          <p:nvPr/>
        </p:nvSpPr>
        <p:spPr>
          <a:xfrm>
            <a:off x="6309360" y="521208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55"/>
          <p:cNvSpPr/>
          <p:nvPr/>
        </p:nvSpPr>
        <p:spPr>
          <a:xfrm>
            <a:off x="6784920" y="513900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56"/>
          <p:cNvSpPr/>
          <p:nvPr/>
        </p:nvSpPr>
        <p:spPr>
          <a:xfrm>
            <a:off x="6912720" y="524880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实验结果与性能分析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57"/>
          <p:cNvSpPr/>
          <p:nvPr/>
        </p:nvSpPr>
        <p:spPr>
          <a:xfrm>
            <a:off x="320040" y="5943600"/>
            <a:ext cx="475200" cy="5482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58"/>
          <p:cNvSpPr/>
          <p:nvPr/>
        </p:nvSpPr>
        <p:spPr>
          <a:xfrm>
            <a:off x="320040" y="6016680"/>
            <a:ext cx="475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59"/>
          <p:cNvSpPr/>
          <p:nvPr/>
        </p:nvSpPr>
        <p:spPr>
          <a:xfrm>
            <a:off x="795600" y="5943600"/>
            <a:ext cx="5303160" cy="548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60"/>
          <p:cNvSpPr/>
          <p:nvPr/>
        </p:nvSpPr>
        <p:spPr>
          <a:xfrm>
            <a:off x="923400" y="6053400"/>
            <a:ext cx="507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开题对应 </a:t>
            </a: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&amp; </a:t>
            </a:r>
            <a:r>
              <a:rPr lang="zh-CN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后续工作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研究背景与问题定义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Background &amp; Problem Formulation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9"/>
          <p:cNvSpPr/>
          <p:nvPr/>
        </p:nvSpPr>
        <p:spPr>
          <a:xfrm>
            <a:off x="274320" y="1115640"/>
            <a:ext cx="5577480" cy="328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365760" y="115200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⚡ 电力行业背景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11"/>
          <p:cNvSpPr/>
          <p:nvPr/>
        </p:nvSpPr>
        <p:spPr>
          <a:xfrm>
            <a:off x="274320" y="1444680"/>
            <a:ext cx="5577480" cy="2212560"/>
          </a:xfrm>
          <a:prstGeom prst="rect">
            <a:avLst/>
          </a:prstGeom>
          <a:solidFill>
            <a:srgbClr val="F0F4F8"/>
          </a:solidFill>
          <a:ln w="15240">
            <a:solidFill>
              <a:srgbClr val="0D2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384120" y="1490400"/>
            <a:ext cx="534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全球每年因窃电、设备故障造成非技术性损耗超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1000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亿美元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3"/>
          <p:cNvSpPr/>
          <p:nvPr/>
        </p:nvSpPr>
        <p:spPr>
          <a:xfrm>
            <a:off x="384120" y="2043720"/>
            <a:ext cx="534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中国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SGCC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：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42,372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用户，异常率约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4.6%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（高度不平衡）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4"/>
          <p:cNvSpPr/>
          <p:nvPr/>
        </p:nvSpPr>
        <p:spPr>
          <a:xfrm>
            <a:off x="384120" y="2597040"/>
            <a:ext cx="534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分布式新能源接入导致用电模式多变，传统阈值规则失效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384120" y="3150000"/>
            <a:ext cx="5348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AMI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（高级计量基础设施）产生海量时序数据，人工审核不可行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6"/>
          <p:cNvSpPr/>
          <p:nvPr/>
        </p:nvSpPr>
        <p:spPr>
          <a:xfrm>
            <a:off x="6080760" y="1115640"/>
            <a:ext cx="5851800" cy="32868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6172200" y="115200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🔬 问题形式化定义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18"/>
          <p:cNvSpPr/>
          <p:nvPr/>
        </p:nvSpPr>
        <p:spPr>
          <a:xfrm>
            <a:off x="6080760" y="1444680"/>
            <a:ext cx="5851800" cy="2212560"/>
          </a:xfrm>
          <a:prstGeom prst="rect">
            <a:avLst/>
          </a:prstGeom>
          <a:solidFill>
            <a:srgbClr val="F0F4F8"/>
          </a:solidFill>
          <a:ln w="15240">
            <a:solidFill>
              <a:srgbClr val="8B00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9"/>
          <p:cNvSpPr/>
          <p:nvPr/>
        </p:nvSpPr>
        <p:spPr>
          <a:xfrm>
            <a:off x="6190560" y="14904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数据形式：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n=42,372 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用户 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× T≈1,000 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天日均用电量时序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0"/>
          <p:cNvSpPr/>
          <p:nvPr/>
        </p:nvSpPr>
        <p:spPr>
          <a:xfrm>
            <a:off x="6190560" y="204372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任务：无监督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半监督识别窃电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故障用户，最大化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1"/>
          <p:cNvSpPr/>
          <p:nvPr/>
        </p:nvSpPr>
        <p:spPr>
          <a:xfrm>
            <a:off x="6190560" y="259704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隐私约束：各变电站数据严格不可出域（电力法规）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2"/>
          <p:cNvSpPr/>
          <p:nvPr/>
        </p:nvSpPr>
        <p:spPr>
          <a:xfrm>
            <a:off x="6190560" y="31500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算力约束：边端设备资源受限，模型需轻量化部署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23"/>
          <p:cNvSpPr/>
          <p:nvPr/>
        </p:nvSpPr>
        <p:spPr>
          <a:xfrm>
            <a:off x="274320" y="3822120"/>
            <a:ext cx="3547440" cy="1599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4"/>
          <p:cNvSpPr/>
          <p:nvPr/>
        </p:nvSpPr>
        <p:spPr>
          <a:xfrm>
            <a:off x="365760" y="3867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①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5"/>
          <p:cNvSpPr/>
          <p:nvPr/>
        </p:nvSpPr>
        <p:spPr>
          <a:xfrm>
            <a:off x="896040" y="3867840"/>
            <a:ext cx="2742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标签稀缺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6"/>
          <p:cNvSpPr/>
          <p:nvPr/>
        </p:nvSpPr>
        <p:spPr>
          <a:xfrm>
            <a:off x="411480" y="4370760"/>
            <a:ext cx="3273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正常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: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异常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=95.4:4.6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人工标注成本极高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27"/>
          <p:cNvSpPr/>
          <p:nvPr/>
        </p:nvSpPr>
        <p:spPr>
          <a:xfrm>
            <a:off x="4343400" y="3822120"/>
            <a:ext cx="3547440" cy="1599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28"/>
          <p:cNvSpPr/>
          <p:nvPr/>
        </p:nvSpPr>
        <p:spPr>
          <a:xfrm>
            <a:off x="4434840" y="3867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②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9"/>
          <p:cNvSpPr/>
          <p:nvPr/>
        </p:nvSpPr>
        <p:spPr>
          <a:xfrm>
            <a:off x="4965120" y="3867840"/>
            <a:ext cx="2742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数据隐私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0"/>
          <p:cNvSpPr/>
          <p:nvPr/>
        </p:nvSpPr>
        <p:spPr>
          <a:xfrm>
            <a:off x="4480560" y="4370760"/>
            <a:ext cx="3273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分布式变电站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数据不可集中传输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31"/>
          <p:cNvSpPr/>
          <p:nvPr/>
        </p:nvSpPr>
        <p:spPr>
          <a:xfrm>
            <a:off x="8412480" y="3822120"/>
            <a:ext cx="3547440" cy="1599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32"/>
          <p:cNvSpPr/>
          <p:nvPr/>
        </p:nvSpPr>
        <p:spPr>
          <a:xfrm>
            <a:off x="8503920" y="3867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3"/>
          <p:cNvSpPr/>
          <p:nvPr/>
        </p:nvSpPr>
        <p:spPr>
          <a:xfrm>
            <a:off x="9034200" y="3867840"/>
            <a:ext cx="2742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高维难题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4"/>
          <p:cNvSpPr/>
          <p:nvPr/>
        </p:nvSpPr>
        <p:spPr>
          <a:xfrm>
            <a:off x="8549640" y="4370760"/>
            <a:ext cx="3273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T=1000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维时序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传统统计方法失准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35"/>
          <p:cNvSpPr/>
          <p:nvPr/>
        </p:nvSpPr>
        <p:spPr>
          <a:xfrm>
            <a:off x="274320" y="5559480"/>
            <a:ext cx="11639880" cy="6580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36"/>
          <p:cNvSpPr/>
          <p:nvPr/>
        </p:nvSpPr>
        <p:spPr>
          <a:xfrm>
            <a:off x="457200" y="563256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研究目标：联邦谱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Transformer——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无监督谱分析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深度特征学习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隐私保护联邦框架，三位一体解决上述挑战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传统方法的局限——为什么现有方法在电网云边场景失效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Why Traditional Anomaly Detection Fails in Smart Grid Cloud-Edge Scenario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9"/>
          <p:cNvSpPr/>
          <p:nvPr/>
        </p:nvSpPr>
        <p:spPr>
          <a:xfrm>
            <a:off x="255960" y="1097280"/>
            <a:ext cx="11685600" cy="40212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0"/>
          <p:cNvSpPr/>
          <p:nvPr/>
        </p:nvSpPr>
        <p:spPr>
          <a:xfrm>
            <a:off x="311040" y="112464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传统方法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1"/>
          <p:cNvSpPr/>
          <p:nvPr/>
        </p:nvSpPr>
        <p:spPr>
          <a:xfrm>
            <a:off x="3785760" y="1124640"/>
            <a:ext cx="2669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核心依赖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假设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2"/>
          <p:cNvSpPr/>
          <p:nvPr/>
        </p:nvSpPr>
        <p:spPr>
          <a:xfrm>
            <a:off x="6546960" y="1124640"/>
            <a:ext cx="294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电网场景失效原因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3"/>
          <p:cNvSpPr/>
          <p:nvPr/>
        </p:nvSpPr>
        <p:spPr>
          <a:xfrm>
            <a:off x="9582840" y="112464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痛点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14"/>
          <p:cNvSpPr/>
          <p:nvPr/>
        </p:nvSpPr>
        <p:spPr>
          <a:xfrm>
            <a:off x="255960" y="1536120"/>
            <a:ext cx="11685600" cy="849960"/>
          </a:xfrm>
          <a:prstGeom prst="rect">
            <a:avLst/>
          </a:prstGeom>
          <a:solidFill>
            <a:srgbClr val="FFEBEE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5"/>
          <p:cNvSpPr/>
          <p:nvPr/>
        </p:nvSpPr>
        <p:spPr>
          <a:xfrm>
            <a:off x="311040" y="1600200"/>
            <a:ext cx="3273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规则阈值法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(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人工设定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6"/>
          <p:cNvSpPr/>
          <p:nvPr/>
        </p:nvSpPr>
        <p:spPr>
          <a:xfrm>
            <a:off x="3785760" y="1600200"/>
            <a:ext cx="254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需要领域专家经验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预设电量异常阈值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7"/>
          <p:cNvSpPr/>
          <p:nvPr/>
        </p:nvSpPr>
        <p:spPr>
          <a:xfrm>
            <a:off x="6546960" y="1600200"/>
            <a:ext cx="2852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新能源接入后用电模式持续变化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固定阈值频繁误报漏报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8"/>
          <p:cNvSpPr/>
          <p:nvPr/>
        </p:nvSpPr>
        <p:spPr>
          <a:xfrm>
            <a:off x="9582840" y="162756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标签依赖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不可泛化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19"/>
          <p:cNvSpPr/>
          <p:nvPr/>
        </p:nvSpPr>
        <p:spPr>
          <a:xfrm>
            <a:off x="255960" y="2450520"/>
            <a:ext cx="11685600" cy="849960"/>
          </a:xfrm>
          <a:prstGeom prst="rect">
            <a:avLst/>
          </a:prstGeom>
          <a:solidFill>
            <a:srgbClr val="FFF3E0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20"/>
          <p:cNvSpPr/>
          <p:nvPr/>
        </p:nvSpPr>
        <p:spPr>
          <a:xfrm>
            <a:off x="311040" y="2514600"/>
            <a:ext cx="3273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监督学习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SVM / RF / LSTM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1"/>
          <p:cNvSpPr/>
          <p:nvPr/>
        </p:nvSpPr>
        <p:spPr>
          <a:xfrm>
            <a:off x="3785760" y="2514600"/>
            <a:ext cx="254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需要大量高质量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异常标注样本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2"/>
          <p:cNvSpPr/>
          <p:nvPr/>
        </p:nvSpPr>
        <p:spPr>
          <a:xfrm>
            <a:off x="6546960" y="2514600"/>
            <a:ext cx="2852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SGCC</a:t>
            </a: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仅</a:t>
            </a:r>
            <a:r>
              <a:rPr lang="en-US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4.6%</a:t>
            </a: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异常，人工标注成本极高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严重不平衡导致分类器退化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3"/>
          <p:cNvSpPr/>
          <p:nvPr/>
        </p:nvSpPr>
        <p:spPr>
          <a:xfrm>
            <a:off x="9582840" y="254196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标签依赖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不平衡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24"/>
          <p:cNvSpPr/>
          <p:nvPr/>
        </p:nvSpPr>
        <p:spPr>
          <a:xfrm>
            <a:off x="255960" y="3364920"/>
            <a:ext cx="11685600" cy="849960"/>
          </a:xfrm>
          <a:prstGeom prst="rect">
            <a:avLst/>
          </a:prstGeom>
          <a:solidFill>
            <a:srgbClr val="FFFDE7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25"/>
          <p:cNvSpPr/>
          <p:nvPr/>
        </p:nvSpPr>
        <p:spPr>
          <a:xfrm>
            <a:off x="311040" y="3429000"/>
            <a:ext cx="3273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孤立森林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Isolation Forest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6"/>
          <p:cNvSpPr/>
          <p:nvPr/>
        </p:nvSpPr>
        <p:spPr>
          <a:xfrm>
            <a:off x="3785760" y="3429000"/>
            <a:ext cx="254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全局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i.i.d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分布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数据可集中处理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7"/>
          <p:cNvSpPr/>
          <p:nvPr/>
        </p:nvSpPr>
        <p:spPr>
          <a:xfrm>
            <a:off x="6546960" y="3429000"/>
            <a:ext cx="2852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隐私法规禁止数据跨站传输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高维</a:t>
            </a:r>
            <a:r>
              <a:rPr lang="en-US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T=1000</a:t>
            </a: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时孤立性度量退化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8"/>
          <p:cNvSpPr/>
          <p:nvPr/>
        </p:nvSpPr>
        <p:spPr>
          <a:xfrm>
            <a:off x="9582840" y="345636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隐私违规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高维失效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29"/>
          <p:cNvSpPr/>
          <p:nvPr/>
        </p:nvSpPr>
        <p:spPr>
          <a:xfrm>
            <a:off x="255960" y="4279320"/>
            <a:ext cx="11685600" cy="849960"/>
          </a:xfrm>
          <a:prstGeom prst="rect">
            <a:avLst/>
          </a:prstGeom>
          <a:solidFill>
            <a:srgbClr val="FFEBEE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30"/>
          <p:cNvSpPr/>
          <p:nvPr/>
        </p:nvSpPr>
        <p:spPr>
          <a:xfrm>
            <a:off x="311040" y="4343400"/>
            <a:ext cx="3273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传统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PCA / 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协方差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主成分异常检测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1"/>
          <p:cNvSpPr/>
          <p:nvPr/>
        </p:nvSpPr>
        <p:spPr>
          <a:xfrm>
            <a:off x="3785760" y="4343400"/>
            <a:ext cx="254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需要准确估计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总体协方差矩阵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2"/>
          <p:cNvSpPr/>
          <p:nvPr/>
        </p:nvSpPr>
        <p:spPr>
          <a:xfrm>
            <a:off x="6546960" y="4343400"/>
            <a:ext cx="2852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γ=n/T≈42&gt;&gt;1</a:t>
            </a: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，样本协方差严重失准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M-P</a:t>
            </a: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定律：噪声掩盖真实信号特征值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3"/>
          <p:cNvSpPr/>
          <p:nvPr/>
        </p:nvSpPr>
        <p:spPr>
          <a:xfrm>
            <a:off x="9582840" y="437076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高维小样本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统计失准★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34"/>
          <p:cNvSpPr/>
          <p:nvPr/>
        </p:nvSpPr>
        <p:spPr>
          <a:xfrm>
            <a:off x="255960" y="5193720"/>
            <a:ext cx="11685600" cy="849960"/>
          </a:xfrm>
          <a:prstGeom prst="rect">
            <a:avLst/>
          </a:prstGeom>
          <a:solidFill>
            <a:srgbClr val="FFF3E0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35"/>
          <p:cNvSpPr/>
          <p:nvPr/>
        </p:nvSpPr>
        <p:spPr>
          <a:xfrm>
            <a:off x="311040" y="5257800"/>
            <a:ext cx="3273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集中式深度学习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AutoEncoder / VAE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6"/>
          <p:cNvSpPr/>
          <p:nvPr/>
        </p:nvSpPr>
        <p:spPr>
          <a:xfrm>
            <a:off x="3785760" y="5257800"/>
            <a:ext cx="254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全量数据集中到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中央服务器训练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37"/>
          <p:cNvSpPr/>
          <p:nvPr/>
        </p:nvSpPr>
        <p:spPr>
          <a:xfrm>
            <a:off x="6546960" y="5257800"/>
            <a:ext cx="2852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变电站数据物理隔离，集中传输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违反合规，通信开销无法承受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8"/>
          <p:cNvSpPr/>
          <p:nvPr/>
        </p:nvSpPr>
        <p:spPr>
          <a:xfrm>
            <a:off x="9582840" y="5285160"/>
            <a:ext cx="2285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隐私违规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通信瓶颈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39"/>
          <p:cNvSpPr/>
          <p:nvPr/>
        </p:nvSpPr>
        <p:spPr>
          <a:xfrm>
            <a:off x="255960" y="6144840"/>
            <a:ext cx="11685600" cy="34704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40"/>
          <p:cNvSpPr/>
          <p:nvPr/>
        </p:nvSpPr>
        <p:spPr>
          <a:xfrm>
            <a:off x="438840" y="617220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★ 本文核心突破：</a:t>
            </a: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RMT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自适应</a:t>
            </a: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M-P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边界精准分离信号</a:t>
            </a: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/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噪声子空间，解决高维小样本协方差失准；</a:t>
            </a: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FedAvg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解决隐私；双路</a:t>
            </a: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Transformer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解决标签稀缺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本文创新算法总览——五大技术贡献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Algorithm Overview: Five Key Technical Contributions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9"/>
          <p:cNvSpPr/>
          <p:nvPr/>
        </p:nvSpPr>
        <p:spPr>
          <a:xfrm>
            <a:off x="255960" y="1078920"/>
            <a:ext cx="2468520" cy="8409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10"/>
          <p:cNvSpPr/>
          <p:nvPr/>
        </p:nvSpPr>
        <p:spPr>
          <a:xfrm>
            <a:off x="320040" y="1188720"/>
            <a:ext cx="2358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创新① 自适应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RMT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谱分析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11"/>
          <p:cNvSpPr/>
          <p:nvPr/>
        </p:nvSpPr>
        <p:spPr>
          <a:xfrm>
            <a:off x="2788920" y="1078920"/>
            <a:ext cx="9125280" cy="840960"/>
          </a:xfrm>
          <a:prstGeom prst="rect">
            <a:avLst/>
          </a:prstGeom>
          <a:solidFill>
            <a:srgbClr val="F0F4F8"/>
          </a:solidFill>
          <a:ln w="15240">
            <a:solidFill>
              <a:srgbClr val="0D2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2"/>
          <p:cNvSpPr/>
          <p:nvPr/>
        </p:nvSpPr>
        <p:spPr>
          <a:xfrm>
            <a:off x="2907720" y="1115640"/>
            <a:ext cx="8915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利用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Marchenko-Pastur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定律自适应判断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M-P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上界，通过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MAD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鲁棒估计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σ²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精准分离信号子空间与噪声子空间，无需任何标签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突破：将随机矩阵理论用于电网用户级异常检测，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AUC=0.5872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（零标签基线）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13"/>
          <p:cNvSpPr/>
          <p:nvPr/>
        </p:nvSpPr>
        <p:spPr>
          <a:xfrm>
            <a:off x="255960" y="2121480"/>
            <a:ext cx="2468520" cy="8409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14"/>
          <p:cNvSpPr/>
          <p:nvPr/>
        </p:nvSpPr>
        <p:spPr>
          <a:xfrm>
            <a:off x="320040" y="2231280"/>
            <a:ext cx="2358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创新②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28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维异质谱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Token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工程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15"/>
          <p:cNvSpPr/>
          <p:nvPr/>
        </p:nvSpPr>
        <p:spPr>
          <a:xfrm>
            <a:off x="2788920" y="2121480"/>
            <a:ext cx="9125280" cy="840960"/>
          </a:xfrm>
          <a:prstGeom prst="rect">
            <a:avLst/>
          </a:prstGeom>
          <a:solidFill>
            <a:srgbClr val="F0F4F8"/>
          </a:solidFill>
          <a:ln w="1524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6"/>
          <p:cNvSpPr/>
          <p:nvPr/>
        </p:nvSpPr>
        <p:spPr>
          <a:xfrm>
            <a:off x="2907720" y="2157840"/>
            <a:ext cx="891504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融合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4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类特征：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谱投影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(5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)+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窗口统计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(11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)+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跨窗口增强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(6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)+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混沌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Takens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嵌入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(6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全向量化批量运算（无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Python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循环），速度提升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10~50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倍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突破：将时序异常从「时间域」转化为「谱特征空间」，使深度模型可直接学习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7"/>
          <p:cNvSpPr/>
          <p:nvPr/>
        </p:nvSpPr>
        <p:spPr>
          <a:xfrm>
            <a:off x="255960" y="3163680"/>
            <a:ext cx="2468520" cy="84096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8"/>
          <p:cNvSpPr/>
          <p:nvPr/>
        </p:nvSpPr>
        <p:spPr>
          <a:xfrm>
            <a:off x="320040" y="3273480"/>
            <a:ext cx="2358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创新③ 双路注意力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19"/>
          <p:cNvSpPr/>
          <p:nvPr/>
        </p:nvSpPr>
        <p:spPr>
          <a:xfrm>
            <a:off x="2788920" y="3163680"/>
            <a:ext cx="9125280" cy="840960"/>
          </a:xfrm>
          <a:prstGeom prst="rect">
            <a:avLst/>
          </a:prstGeom>
          <a:solidFill>
            <a:srgbClr val="F0F4F8"/>
          </a:solidFill>
          <a:ln w="15240">
            <a:solidFill>
              <a:srgbClr val="2CA0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0"/>
          <p:cNvSpPr/>
          <p:nvPr/>
        </p:nvSpPr>
        <p:spPr>
          <a:xfrm>
            <a:off x="2907720" y="3200400"/>
            <a:ext cx="891504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路径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1 LocalWindowAttention(win=6)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：捕捉短期用电突变（窃电操作）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路径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 CLS+TransformerEncoder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：捕捉长期趋势异常（设备老化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持续偷电）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创新：双路融合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256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维特征，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AdaptiveFocalLoss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动态调整召回权重，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AUC=0.7602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21"/>
          <p:cNvSpPr/>
          <p:nvPr/>
        </p:nvSpPr>
        <p:spPr>
          <a:xfrm>
            <a:off x="255960" y="4206240"/>
            <a:ext cx="2468520" cy="84096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22"/>
          <p:cNvSpPr/>
          <p:nvPr/>
        </p:nvSpPr>
        <p:spPr>
          <a:xfrm>
            <a:off x="320040" y="4316040"/>
            <a:ext cx="2358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创新④ 联邦谱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Transformer(FedAvg)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23"/>
          <p:cNvSpPr/>
          <p:nvPr/>
        </p:nvSpPr>
        <p:spPr>
          <a:xfrm>
            <a:off x="2788920" y="4206240"/>
            <a:ext cx="9125280" cy="840960"/>
          </a:xfrm>
          <a:prstGeom prst="rect">
            <a:avLst/>
          </a:prstGeom>
          <a:solidFill>
            <a:srgbClr val="F0F4F8"/>
          </a:solidFill>
          <a:ln w="15240">
            <a:solidFill>
              <a:srgbClr val="8B00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24"/>
          <p:cNvSpPr/>
          <p:nvPr/>
        </p:nvSpPr>
        <p:spPr>
          <a:xfrm>
            <a:off x="2907720" y="4242960"/>
            <a:ext cx="891504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3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个变电站作为独立联邦客户端，数据严格不离站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每轮仅传输模型参数（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~200K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浮点数），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FedAvg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加权聚合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突破：将隐私保护深度嵌入电网检测框架，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与集中式训练相当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25"/>
          <p:cNvSpPr/>
          <p:nvPr/>
        </p:nvSpPr>
        <p:spPr>
          <a:xfrm>
            <a:off x="255960" y="5248800"/>
            <a:ext cx="2468520" cy="840960"/>
          </a:xfrm>
          <a:prstGeom prst="rect">
            <a:avLst/>
          </a:prstGeom>
          <a:solidFill>
            <a:srgbClr val="D627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6"/>
          <p:cNvSpPr/>
          <p:nvPr/>
        </p:nvSpPr>
        <p:spPr>
          <a:xfrm>
            <a:off x="320040" y="5358240"/>
            <a:ext cx="2358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创新⑤ 异质集成决策（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Stacking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7"/>
          <p:cNvSpPr/>
          <p:nvPr/>
        </p:nvSpPr>
        <p:spPr>
          <a:xfrm>
            <a:off x="2788920" y="5248800"/>
            <a:ext cx="9125280" cy="840960"/>
          </a:xfrm>
          <a:prstGeom prst="rect">
            <a:avLst/>
          </a:prstGeom>
          <a:solidFill>
            <a:srgbClr val="F0F4F8"/>
          </a:solidFill>
          <a:ln w="15240">
            <a:solidFill>
              <a:srgbClr val="D627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28"/>
          <p:cNvSpPr/>
          <p:nvPr/>
        </p:nvSpPr>
        <p:spPr>
          <a:xfrm>
            <a:off x="2907720" y="5285160"/>
            <a:ext cx="8915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XGBoost(600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树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)+Transformer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双路 → 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LogisticRegression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元学习器融合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XGBoost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弥补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对稀疏手工特征的劣势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最终集成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AUC=0.7651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，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F1=0.3317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29"/>
          <p:cNvSpPr/>
          <p:nvPr/>
        </p:nvSpPr>
        <p:spPr>
          <a:xfrm>
            <a:off x="255960" y="6309360"/>
            <a:ext cx="11685600" cy="2008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30"/>
          <p:cNvSpPr/>
          <p:nvPr/>
        </p:nvSpPr>
        <p:spPr>
          <a:xfrm>
            <a:off x="438840" y="6318360"/>
            <a:ext cx="11246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AUC 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提升路径：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0.5872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（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RMT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零标签）→ 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0.7602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（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Transformer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）→ 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0.7651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（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Stacking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集成）   总提升 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+17.9pp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  RMT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谱分析理论与实现——零标签异常检测基线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Random Matrix Theory Spectral Analysis — Zero-Label Anomaly Detection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9"/>
          <p:cNvSpPr/>
          <p:nvPr/>
        </p:nvSpPr>
        <p:spPr>
          <a:xfrm>
            <a:off x="255960" y="1097280"/>
            <a:ext cx="5348880" cy="5138640"/>
          </a:xfrm>
          <a:prstGeom prst="rect">
            <a:avLst/>
          </a:prstGeom>
          <a:solidFill>
            <a:srgbClr val="F0F4F8"/>
          </a:solidFill>
          <a:ln w="19050">
            <a:solidFill>
              <a:srgbClr val="0D2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0"/>
          <p:cNvSpPr/>
          <p:nvPr/>
        </p:nvSpPr>
        <p:spPr>
          <a:xfrm>
            <a:off x="320040" y="1115640"/>
            <a:ext cx="523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RMT</a:t>
            </a:r>
            <a:r>
              <a:rPr lang="zh-CN" sz="13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算法流程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11"/>
          <p:cNvSpPr/>
          <p:nvPr/>
        </p:nvSpPr>
        <p:spPr>
          <a:xfrm>
            <a:off x="320040" y="1481400"/>
            <a:ext cx="685440" cy="5025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2"/>
          <p:cNvSpPr/>
          <p:nvPr/>
        </p:nvSpPr>
        <p:spPr>
          <a:xfrm>
            <a:off x="320040" y="157284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Step1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3"/>
          <p:cNvSpPr/>
          <p:nvPr/>
        </p:nvSpPr>
        <p:spPr>
          <a:xfrm>
            <a:off x="1042560" y="14997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滑动窗口切分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4"/>
          <p:cNvSpPr/>
          <p:nvPr/>
        </p:nvSpPr>
        <p:spPr>
          <a:xfrm>
            <a:off x="1042560" y="170064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window=30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天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, stride=7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 → 144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个窗口 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(n_users, T=30)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5"/>
          <p:cNvSpPr/>
          <p:nvPr/>
        </p:nvSpPr>
        <p:spPr>
          <a:xfrm>
            <a:off x="320040" y="2139840"/>
            <a:ext cx="685440" cy="5025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6"/>
          <p:cNvSpPr/>
          <p:nvPr/>
        </p:nvSpPr>
        <p:spPr>
          <a:xfrm>
            <a:off x="320040" y="223128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Step2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7"/>
          <p:cNvSpPr/>
          <p:nvPr/>
        </p:nvSpPr>
        <p:spPr>
          <a:xfrm>
            <a:off x="1042560" y="21578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MAD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鲁棒估计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σ²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8"/>
          <p:cNvSpPr/>
          <p:nvPr/>
        </p:nvSpPr>
        <p:spPr>
          <a:xfrm>
            <a:off x="1042560" y="235908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σ² = (MAD(X)/0.6745)²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 → 抗野值，高维稳健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19"/>
          <p:cNvSpPr/>
          <p:nvPr/>
        </p:nvSpPr>
        <p:spPr>
          <a:xfrm>
            <a:off x="320040" y="2797920"/>
            <a:ext cx="685440" cy="5025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20"/>
          <p:cNvSpPr/>
          <p:nvPr/>
        </p:nvSpPr>
        <p:spPr>
          <a:xfrm>
            <a:off x="320040" y="288936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Step3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1"/>
          <p:cNvSpPr/>
          <p:nvPr/>
        </p:nvSpPr>
        <p:spPr>
          <a:xfrm>
            <a:off x="1042560" y="28162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计算</a:t>
            </a: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M-P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边界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22"/>
          <p:cNvSpPr/>
          <p:nvPr/>
        </p:nvSpPr>
        <p:spPr>
          <a:xfrm>
            <a:off x="1042560" y="301752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γ = n_sub/T,  λ± = σ²(1±√γ)²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 → 噪声特征值理论分布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23"/>
          <p:cNvSpPr/>
          <p:nvPr/>
        </p:nvSpPr>
        <p:spPr>
          <a:xfrm>
            <a:off x="320040" y="3456360"/>
            <a:ext cx="685440" cy="5025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24"/>
          <p:cNvSpPr/>
          <p:nvPr/>
        </p:nvSpPr>
        <p:spPr>
          <a:xfrm>
            <a:off x="320040" y="354780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Step4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5"/>
          <p:cNvSpPr/>
          <p:nvPr/>
        </p:nvSpPr>
        <p:spPr>
          <a:xfrm>
            <a:off x="1042560" y="3474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LedoitWolf</a:t>
            </a: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协方差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6"/>
          <p:cNvSpPr/>
          <p:nvPr/>
        </p:nvSpPr>
        <p:spPr>
          <a:xfrm>
            <a:off x="1042560" y="367596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收缩估计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 = LedoitWolf(X_sub.T)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 → 解决高维小样本失准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27"/>
          <p:cNvSpPr/>
          <p:nvPr/>
        </p:nvSpPr>
        <p:spPr>
          <a:xfrm>
            <a:off x="320040" y="4114800"/>
            <a:ext cx="685440" cy="5025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28"/>
          <p:cNvSpPr/>
          <p:nvPr/>
        </p:nvSpPr>
        <p:spPr>
          <a:xfrm>
            <a:off x="320040" y="420624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Step5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9"/>
          <p:cNvSpPr/>
          <p:nvPr/>
        </p:nvSpPr>
        <p:spPr>
          <a:xfrm>
            <a:off x="1042560" y="41331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特征值分解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30"/>
          <p:cNvSpPr/>
          <p:nvPr/>
        </p:nvSpPr>
        <p:spPr>
          <a:xfrm>
            <a:off x="1042560" y="433440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eigh(C) → top-k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特征值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向量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 → 超出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λ+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即为真实信号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31"/>
          <p:cNvSpPr/>
          <p:nvPr/>
        </p:nvSpPr>
        <p:spPr>
          <a:xfrm>
            <a:off x="320040" y="4773240"/>
            <a:ext cx="685440" cy="5025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32"/>
          <p:cNvSpPr/>
          <p:nvPr/>
        </p:nvSpPr>
        <p:spPr>
          <a:xfrm>
            <a:off x="320040" y="486468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Step6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3"/>
          <p:cNvSpPr/>
          <p:nvPr/>
        </p:nvSpPr>
        <p:spPr>
          <a:xfrm>
            <a:off x="1042560" y="47916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时间域投影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4"/>
          <p:cNvSpPr/>
          <p:nvPr/>
        </p:nvSpPr>
        <p:spPr>
          <a:xfrm>
            <a:off x="1042560" y="499248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V_time = X_sub.T @ eigvec (T×k)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 → 全量用户投影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: X_all @ V_time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35"/>
          <p:cNvSpPr/>
          <p:nvPr/>
        </p:nvSpPr>
        <p:spPr>
          <a:xfrm>
            <a:off x="320040" y="5431680"/>
            <a:ext cx="685440" cy="5025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36"/>
          <p:cNvSpPr/>
          <p:nvPr/>
        </p:nvSpPr>
        <p:spPr>
          <a:xfrm>
            <a:off x="320040" y="5523120"/>
            <a:ext cx="68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Step7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7"/>
          <p:cNvSpPr/>
          <p:nvPr/>
        </p:nvSpPr>
        <p:spPr>
          <a:xfrm>
            <a:off x="1042560" y="54496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异常得分计算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8"/>
          <p:cNvSpPr/>
          <p:nvPr/>
        </p:nvSpPr>
        <p:spPr>
          <a:xfrm>
            <a:off x="1042560" y="565092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score_A = Σ(x·u_i)²  (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信号子空间能量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 → 用户级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 = 0.5872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39"/>
          <p:cNvSpPr/>
          <p:nvPr/>
        </p:nvSpPr>
        <p:spPr>
          <a:xfrm>
            <a:off x="5806440" y="1097280"/>
            <a:ext cx="6126120" cy="5138640"/>
          </a:xfrm>
          <a:prstGeom prst="rect">
            <a:avLst/>
          </a:prstGeom>
          <a:solidFill>
            <a:srgbClr val="E8F0FE"/>
          </a:solidFill>
          <a:ln w="190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40"/>
          <p:cNvSpPr/>
          <p:nvPr/>
        </p:nvSpPr>
        <p:spPr>
          <a:xfrm>
            <a:off x="5897880" y="1115640"/>
            <a:ext cx="5988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核心数学公式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41"/>
          <p:cNvSpPr/>
          <p:nvPr/>
        </p:nvSpPr>
        <p:spPr>
          <a:xfrm>
            <a:off x="5897880" y="1508760"/>
            <a:ext cx="5897520" cy="2282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42"/>
          <p:cNvSpPr/>
          <p:nvPr/>
        </p:nvSpPr>
        <p:spPr>
          <a:xfrm>
            <a:off x="5943600" y="1536120"/>
            <a:ext cx="5806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Marchenko-Pastur </a:t>
            </a: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分布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43"/>
          <p:cNvSpPr/>
          <p:nvPr/>
        </p:nvSpPr>
        <p:spPr>
          <a:xfrm>
            <a:off x="5897880" y="1737360"/>
            <a:ext cx="589752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44"/>
          <p:cNvSpPr/>
          <p:nvPr/>
        </p:nvSpPr>
        <p:spPr>
          <a:xfrm>
            <a:off x="5989320" y="1764720"/>
            <a:ext cx="5742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λ± = σ²(1 ± √γ)²,  γ = n/T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当 </a:t>
            </a:r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λ_max &gt; λ+ </a:t>
            </a: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时，存在真实信号子空间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45"/>
          <p:cNvSpPr/>
          <p:nvPr/>
        </p:nvSpPr>
        <p:spPr>
          <a:xfrm>
            <a:off x="5897880" y="2441520"/>
            <a:ext cx="5897520" cy="2282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46"/>
          <p:cNvSpPr/>
          <p:nvPr/>
        </p:nvSpPr>
        <p:spPr>
          <a:xfrm>
            <a:off x="5943600" y="2468880"/>
            <a:ext cx="5806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MAD </a:t>
            </a: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鲁棒方差估计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47"/>
          <p:cNvSpPr/>
          <p:nvPr/>
        </p:nvSpPr>
        <p:spPr>
          <a:xfrm>
            <a:off x="5897880" y="2670120"/>
            <a:ext cx="589752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48"/>
          <p:cNvSpPr/>
          <p:nvPr/>
        </p:nvSpPr>
        <p:spPr>
          <a:xfrm>
            <a:off x="5989320" y="2697480"/>
            <a:ext cx="5742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σ̂² = (median|X-median(X)|/0.6745)²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比 </a:t>
            </a:r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np.var </a:t>
            </a: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对野值鲁棒，适合实际电网数据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49"/>
          <p:cNvSpPr/>
          <p:nvPr/>
        </p:nvSpPr>
        <p:spPr>
          <a:xfrm>
            <a:off x="5897880" y="3374280"/>
            <a:ext cx="5897520" cy="2282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50"/>
          <p:cNvSpPr/>
          <p:nvPr/>
        </p:nvSpPr>
        <p:spPr>
          <a:xfrm>
            <a:off x="5943600" y="3401640"/>
            <a:ext cx="5806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信号子空间投影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51"/>
          <p:cNvSpPr/>
          <p:nvPr/>
        </p:nvSpPr>
        <p:spPr>
          <a:xfrm>
            <a:off x="5897880" y="3602880"/>
            <a:ext cx="589752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52"/>
          <p:cNvSpPr/>
          <p:nvPr/>
        </p:nvSpPr>
        <p:spPr>
          <a:xfrm>
            <a:off x="5989320" y="3630240"/>
            <a:ext cx="5742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z_j = Σ_{i:λᵢ&gt;λ+} (x_j · u_i)²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u_i </a:t>
            </a: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为时间域特征向量（</a:t>
            </a:r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</a:t>
            </a: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维），</a:t>
            </a:r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x_j </a:t>
            </a: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为用户时序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53"/>
          <p:cNvSpPr/>
          <p:nvPr/>
        </p:nvSpPr>
        <p:spPr>
          <a:xfrm>
            <a:off x="5897880" y="4306680"/>
            <a:ext cx="5897520" cy="2282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54"/>
          <p:cNvSpPr/>
          <p:nvPr/>
        </p:nvSpPr>
        <p:spPr>
          <a:xfrm>
            <a:off x="5943600" y="4334400"/>
            <a:ext cx="5806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谱溢出比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55"/>
          <p:cNvSpPr/>
          <p:nvPr/>
        </p:nvSpPr>
        <p:spPr>
          <a:xfrm>
            <a:off x="5897880" y="4535280"/>
            <a:ext cx="589752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56"/>
          <p:cNvSpPr/>
          <p:nvPr/>
        </p:nvSpPr>
        <p:spPr>
          <a:xfrm>
            <a:off x="5989320" y="4563000"/>
            <a:ext cx="5742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 = λ_max / λ+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r&gt;1 </a:t>
            </a: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表示窗口内存在异常强度信号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57"/>
          <p:cNvSpPr/>
          <p:nvPr/>
        </p:nvSpPr>
        <p:spPr>
          <a:xfrm>
            <a:off x="5897880" y="5239440"/>
            <a:ext cx="5897520" cy="2282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58"/>
          <p:cNvSpPr/>
          <p:nvPr/>
        </p:nvSpPr>
        <p:spPr>
          <a:xfrm>
            <a:off x="5943600" y="5266800"/>
            <a:ext cx="5806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谱集中度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59"/>
          <p:cNvSpPr/>
          <p:nvPr/>
        </p:nvSpPr>
        <p:spPr>
          <a:xfrm>
            <a:off x="5897880" y="5468040"/>
            <a:ext cx="589752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60"/>
          <p:cNvSpPr/>
          <p:nvPr/>
        </p:nvSpPr>
        <p:spPr>
          <a:xfrm>
            <a:off x="5989320" y="5495400"/>
            <a:ext cx="5742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 = Σᵢ λᵢ / trace(C)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top-k</a:t>
            </a:r>
            <a:r>
              <a:rPr lang="zh-CN" sz="1000" b="0" i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特征值占总方差比例，衡量信号强度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61"/>
          <p:cNvSpPr/>
          <p:nvPr/>
        </p:nvSpPr>
        <p:spPr>
          <a:xfrm>
            <a:off x="255960" y="6291000"/>
            <a:ext cx="11685600" cy="2008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62"/>
          <p:cNvSpPr/>
          <p:nvPr/>
        </p:nvSpPr>
        <p:spPr>
          <a:xfrm>
            <a:off x="438840" y="6309360"/>
            <a:ext cx="11246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关键洞察：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RMT</a:t>
            </a: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将「是否存在异常用户」转化为「协方差矩阵特征值是否超出噪声理论上界」的统计检验，完全无需标签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05  28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维谱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Token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特征工程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28-Dimensional Spectral Token Feature Engineering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9"/>
          <p:cNvSpPr/>
          <p:nvPr/>
        </p:nvSpPr>
        <p:spPr>
          <a:xfrm>
            <a:off x="255960" y="1115640"/>
            <a:ext cx="2102760" cy="105120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10"/>
          <p:cNvSpPr/>
          <p:nvPr/>
        </p:nvSpPr>
        <p:spPr>
          <a:xfrm>
            <a:off x="301680" y="1188720"/>
            <a:ext cx="2029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① RMT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谱投影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1"/>
          <p:cNvSpPr/>
          <p:nvPr/>
        </p:nvSpPr>
        <p:spPr>
          <a:xfrm>
            <a:off x="301680" y="166428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Token 1~5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(5</a:t>
            </a:r>
            <a:r>
              <a:rPr lang="zh-CN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维</a:t>
            </a: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12"/>
          <p:cNvSpPr/>
          <p:nvPr/>
        </p:nvSpPr>
        <p:spPr>
          <a:xfrm>
            <a:off x="2423160" y="1225440"/>
            <a:ext cx="7845120" cy="822600"/>
          </a:xfrm>
          <a:prstGeom prst="rect">
            <a:avLst/>
          </a:prstGeom>
          <a:solidFill>
            <a:srgbClr val="F0F4F8"/>
          </a:solidFill>
          <a:ln w="15240">
            <a:solidFill>
              <a:srgbClr val="0D2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2541960" y="1298520"/>
            <a:ext cx="7634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top-5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特征向量投影能量 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|vᵢ·x|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逐用户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×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逐窗口，捕捉主成分信号方向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14"/>
          <p:cNvSpPr/>
          <p:nvPr/>
        </p:nvSpPr>
        <p:spPr>
          <a:xfrm>
            <a:off x="10332720" y="1225440"/>
            <a:ext cx="1599840" cy="82260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15"/>
          <p:cNvSpPr/>
          <p:nvPr/>
        </p:nvSpPr>
        <p:spPr>
          <a:xfrm>
            <a:off x="10332720" y="131688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AUC</a:t>
            </a: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贡献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16"/>
          <p:cNvSpPr/>
          <p:nvPr/>
        </p:nvSpPr>
        <p:spPr>
          <a:xfrm>
            <a:off x="255960" y="2377440"/>
            <a:ext cx="2102760" cy="105120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17"/>
          <p:cNvSpPr/>
          <p:nvPr/>
        </p:nvSpPr>
        <p:spPr>
          <a:xfrm>
            <a:off x="301680" y="2450520"/>
            <a:ext cx="2029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② 窗口统计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18"/>
          <p:cNvSpPr/>
          <p:nvPr/>
        </p:nvSpPr>
        <p:spPr>
          <a:xfrm>
            <a:off x="301680" y="292608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Token 6~16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(11</a:t>
            </a:r>
            <a:r>
              <a:rPr lang="zh-CN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维</a:t>
            </a: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19"/>
          <p:cNvSpPr/>
          <p:nvPr/>
        </p:nvSpPr>
        <p:spPr>
          <a:xfrm>
            <a:off x="2423160" y="2487240"/>
            <a:ext cx="7845120" cy="822600"/>
          </a:xfrm>
          <a:prstGeom prst="rect">
            <a:avLst/>
          </a:prstGeom>
          <a:solidFill>
            <a:srgbClr val="F0F4F8"/>
          </a:solidFill>
          <a:ln w="1524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20"/>
          <p:cNvSpPr/>
          <p:nvPr/>
        </p:nvSpPr>
        <p:spPr>
          <a:xfrm>
            <a:off x="2541960" y="2560320"/>
            <a:ext cx="7634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方差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均值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最大值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差分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零值率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趋势斜率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偏度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FFT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低频能量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非零比例，向量化批量计算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21"/>
          <p:cNvSpPr/>
          <p:nvPr/>
        </p:nvSpPr>
        <p:spPr>
          <a:xfrm>
            <a:off x="10332720" y="2487240"/>
            <a:ext cx="1599840" cy="82260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22"/>
          <p:cNvSpPr/>
          <p:nvPr/>
        </p:nvSpPr>
        <p:spPr>
          <a:xfrm>
            <a:off x="10332720" y="257868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AUC</a:t>
            </a: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贡献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23"/>
          <p:cNvSpPr/>
          <p:nvPr/>
        </p:nvSpPr>
        <p:spPr>
          <a:xfrm>
            <a:off x="255960" y="3639240"/>
            <a:ext cx="2102760" cy="105120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24"/>
          <p:cNvSpPr/>
          <p:nvPr/>
        </p:nvSpPr>
        <p:spPr>
          <a:xfrm>
            <a:off x="301680" y="3712320"/>
            <a:ext cx="2029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③ 跨窗口增强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25"/>
          <p:cNvSpPr/>
          <p:nvPr/>
        </p:nvSpPr>
        <p:spPr>
          <a:xfrm>
            <a:off x="301680" y="418788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Token 17~21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(5</a:t>
            </a:r>
            <a:r>
              <a:rPr lang="zh-CN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维</a:t>
            </a: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26"/>
          <p:cNvSpPr/>
          <p:nvPr/>
        </p:nvSpPr>
        <p:spPr>
          <a:xfrm>
            <a:off x="2423160" y="3749040"/>
            <a:ext cx="7845120" cy="822600"/>
          </a:xfrm>
          <a:prstGeom prst="rect">
            <a:avLst/>
          </a:prstGeom>
          <a:solidFill>
            <a:srgbClr val="F0F4F8"/>
          </a:solidFill>
          <a:ln w="15240">
            <a:solidFill>
              <a:srgbClr val="2CA0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27"/>
          <p:cNvSpPr/>
          <p:nvPr/>
        </p:nvSpPr>
        <p:spPr>
          <a:xfrm>
            <a:off x="2541960" y="3822120"/>
            <a:ext cx="7634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月度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CV/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季节指数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工作日比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连续零值段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滑动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Z-score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捕捉长期行为模式变化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28"/>
          <p:cNvSpPr/>
          <p:nvPr/>
        </p:nvSpPr>
        <p:spPr>
          <a:xfrm>
            <a:off x="10332720" y="3749040"/>
            <a:ext cx="1599840" cy="82260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29"/>
          <p:cNvSpPr/>
          <p:nvPr/>
        </p:nvSpPr>
        <p:spPr>
          <a:xfrm>
            <a:off x="10332720" y="384048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AUC</a:t>
            </a: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贡献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中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30"/>
          <p:cNvSpPr/>
          <p:nvPr/>
        </p:nvSpPr>
        <p:spPr>
          <a:xfrm>
            <a:off x="255960" y="4901040"/>
            <a:ext cx="2102760" cy="105120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31"/>
          <p:cNvSpPr/>
          <p:nvPr/>
        </p:nvSpPr>
        <p:spPr>
          <a:xfrm>
            <a:off x="301680" y="4974480"/>
            <a:ext cx="2029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④ 混沌延迟嵌入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32"/>
          <p:cNvSpPr/>
          <p:nvPr/>
        </p:nvSpPr>
        <p:spPr>
          <a:xfrm>
            <a:off x="301680" y="544968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Token 22~28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(7</a:t>
            </a:r>
            <a:r>
              <a:rPr lang="zh-CN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维</a:t>
            </a: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33"/>
          <p:cNvSpPr/>
          <p:nvPr/>
        </p:nvSpPr>
        <p:spPr>
          <a:xfrm>
            <a:off x="2423160" y="5010840"/>
            <a:ext cx="7845120" cy="822600"/>
          </a:xfrm>
          <a:prstGeom prst="rect">
            <a:avLst/>
          </a:prstGeom>
          <a:solidFill>
            <a:srgbClr val="F0F4F8"/>
          </a:solidFill>
          <a:ln w="15240">
            <a:solidFill>
              <a:srgbClr val="8B00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34"/>
          <p:cNvSpPr/>
          <p:nvPr/>
        </p:nvSpPr>
        <p:spPr>
          <a:xfrm>
            <a:off x="2541960" y="5083920"/>
            <a:ext cx="7634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Takens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嵌入 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d=4,τ=7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，构造协方差特征值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捕捉窃电时序的非线性混沌特征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35"/>
          <p:cNvSpPr/>
          <p:nvPr/>
        </p:nvSpPr>
        <p:spPr>
          <a:xfrm>
            <a:off x="10332720" y="5010840"/>
            <a:ext cx="1599840" cy="82260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36"/>
          <p:cNvSpPr/>
          <p:nvPr/>
        </p:nvSpPr>
        <p:spPr>
          <a:xfrm>
            <a:off x="10332720" y="510228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AUC</a:t>
            </a: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贡献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中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37"/>
          <p:cNvSpPr/>
          <p:nvPr/>
        </p:nvSpPr>
        <p:spPr>
          <a:xfrm>
            <a:off x="255960" y="6144840"/>
            <a:ext cx="5577480" cy="34704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38"/>
          <p:cNvSpPr/>
          <p:nvPr/>
        </p:nvSpPr>
        <p:spPr>
          <a:xfrm>
            <a:off x="347400" y="6181200"/>
            <a:ext cx="539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归一化策略：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Token1~5 → </a:t>
            </a:r>
            <a:r>
              <a:rPr lang="zh-CN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逐用户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MinMax</a:t>
            </a:r>
            <a:r>
              <a:rPr lang="zh-CN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；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Token6~28 → </a:t>
            </a:r>
            <a:r>
              <a:rPr lang="zh-CN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全局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RobustScaler(IQR)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39"/>
          <p:cNvSpPr/>
          <p:nvPr/>
        </p:nvSpPr>
        <p:spPr>
          <a:xfrm>
            <a:off x="5897880" y="6144840"/>
            <a:ext cx="6034680" cy="34704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40"/>
          <p:cNvSpPr/>
          <p:nvPr/>
        </p:nvSpPr>
        <p:spPr>
          <a:xfrm>
            <a:off x="5989320" y="6181200"/>
            <a:ext cx="5851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⚡ 全向量化：消除</a:t>
            </a: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</a:t>
            </a:r>
            <a:r>
              <a:rPr lang="zh-CN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循环，提取速度提升</a:t>
            </a: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10~50×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双路注意力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Transformer——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模型架构框图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Dual-Path Attention Transformer Architecture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9"/>
          <p:cNvSpPr/>
          <p:nvPr/>
        </p:nvSpPr>
        <p:spPr>
          <a:xfrm>
            <a:off x="255960" y="1097280"/>
            <a:ext cx="2057040" cy="11883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10"/>
          <p:cNvSpPr/>
          <p:nvPr/>
        </p:nvSpPr>
        <p:spPr>
          <a:xfrm>
            <a:off x="301680" y="1124640"/>
            <a:ext cx="19656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输入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(B, 48, 28)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48</a:t>
            </a:r>
            <a:r>
              <a:rPr lang="zh-CN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窗口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×28</a:t>
            </a:r>
            <a:r>
              <a:rPr lang="zh-CN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维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Token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1"/>
          <p:cNvSpPr/>
          <p:nvPr/>
        </p:nvSpPr>
        <p:spPr>
          <a:xfrm>
            <a:off x="2331720" y="146304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12"/>
          <p:cNvSpPr/>
          <p:nvPr/>
        </p:nvSpPr>
        <p:spPr>
          <a:xfrm>
            <a:off x="2697480" y="1097280"/>
            <a:ext cx="4114440" cy="5047200"/>
          </a:xfrm>
          <a:prstGeom prst="rect">
            <a:avLst/>
          </a:prstGeom>
          <a:solidFill>
            <a:srgbClr val="E3F2FD"/>
          </a:solidFill>
          <a:ln w="254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13"/>
          <p:cNvSpPr/>
          <p:nvPr/>
        </p:nvSpPr>
        <p:spPr>
          <a:xfrm>
            <a:off x="2743200" y="111564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路径</a:t>
            </a:r>
            <a:r>
              <a:rPr lang="en-US" sz="1100" b="1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1: </a:t>
            </a:r>
            <a:r>
              <a:rPr lang="zh-CN" sz="1100" b="1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局部窗口注意力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14"/>
          <p:cNvSpPr/>
          <p:nvPr/>
        </p:nvSpPr>
        <p:spPr>
          <a:xfrm>
            <a:off x="2834640" y="1536120"/>
            <a:ext cx="3840120" cy="6854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15"/>
          <p:cNvSpPr/>
          <p:nvPr/>
        </p:nvSpPr>
        <p:spPr>
          <a:xfrm>
            <a:off x="2880360" y="156348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Linear Proj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d_model=128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16"/>
          <p:cNvSpPr/>
          <p:nvPr/>
        </p:nvSpPr>
        <p:spPr>
          <a:xfrm>
            <a:off x="2834640" y="2404800"/>
            <a:ext cx="3840120" cy="6854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7"/>
          <p:cNvSpPr/>
          <p:nvPr/>
        </p:nvSpPr>
        <p:spPr>
          <a:xfrm>
            <a:off x="2880360" y="243216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 PositionEmb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正弦位置编码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18"/>
          <p:cNvSpPr/>
          <p:nvPr/>
        </p:nvSpPr>
        <p:spPr>
          <a:xfrm>
            <a:off x="2834640" y="3273480"/>
            <a:ext cx="3840120" cy="6854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19"/>
          <p:cNvSpPr/>
          <p:nvPr/>
        </p:nvSpPr>
        <p:spPr>
          <a:xfrm>
            <a:off x="2880360" y="330084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LocalWinAttn×4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win=6, Pre-LN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20"/>
          <p:cNvSpPr/>
          <p:nvPr/>
        </p:nvSpPr>
        <p:spPr>
          <a:xfrm>
            <a:off x="2834640" y="4142160"/>
            <a:ext cx="3840120" cy="6854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21"/>
          <p:cNvSpPr/>
          <p:nvPr/>
        </p:nvSpPr>
        <p:spPr>
          <a:xfrm>
            <a:off x="2880360" y="416952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FFN×4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dim_ff=512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22"/>
          <p:cNvSpPr/>
          <p:nvPr/>
        </p:nvSpPr>
        <p:spPr>
          <a:xfrm>
            <a:off x="2834640" y="5010840"/>
            <a:ext cx="3840120" cy="6854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23"/>
          <p:cNvSpPr/>
          <p:nvPr/>
        </p:nvSpPr>
        <p:spPr>
          <a:xfrm>
            <a:off x="2880360" y="503820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CLS Pooling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→(B,128) feat_local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24"/>
          <p:cNvSpPr/>
          <p:nvPr/>
        </p:nvSpPr>
        <p:spPr>
          <a:xfrm>
            <a:off x="6967800" y="1097280"/>
            <a:ext cx="4114440" cy="5047200"/>
          </a:xfrm>
          <a:prstGeom prst="rect">
            <a:avLst/>
          </a:prstGeom>
          <a:solidFill>
            <a:srgbClr val="F3E5F5"/>
          </a:solidFill>
          <a:ln w="25400">
            <a:solidFill>
              <a:srgbClr val="8B00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25"/>
          <p:cNvSpPr/>
          <p:nvPr/>
        </p:nvSpPr>
        <p:spPr>
          <a:xfrm>
            <a:off x="7013520" y="111564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8B008B"/>
                </a:solidFill>
                <a:effectLst/>
                <a:uFillTx/>
                <a:latin typeface="Calibri"/>
              </a:rPr>
              <a:t>路径</a:t>
            </a:r>
            <a:r>
              <a:rPr lang="en-US" sz="1100" b="1" u="none" strike="noStrike">
                <a:solidFill>
                  <a:srgbClr val="8B008B"/>
                </a:solidFill>
                <a:effectLst/>
                <a:uFillTx/>
                <a:latin typeface="Calibri"/>
              </a:rPr>
              <a:t>2: </a:t>
            </a:r>
            <a:r>
              <a:rPr lang="zh-CN" sz="1100" b="1" u="none" strike="noStrike">
                <a:solidFill>
                  <a:srgbClr val="8B008B"/>
                </a:solidFill>
                <a:effectLst/>
                <a:uFillTx/>
                <a:latin typeface="Calibri"/>
              </a:rPr>
              <a:t>全局</a:t>
            </a:r>
            <a:r>
              <a:rPr lang="en-US" sz="1100" b="1" u="none" strike="noStrike">
                <a:solidFill>
                  <a:srgbClr val="8B008B"/>
                </a:solidFill>
                <a:effectLst/>
                <a:uFillTx/>
                <a:latin typeface="Calibri"/>
              </a:rPr>
              <a:t>CLS Transformer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26"/>
          <p:cNvSpPr/>
          <p:nvPr/>
        </p:nvSpPr>
        <p:spPr>
          <a:xfrm>
            <a:off x="7059240" y="1536120"/>
            <a:ext cx="3840120" cy="68544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27"/>
          <p:cNvSpPr/>
          <p:nvPr/>
        </p:nvSpPr>
        <p:spPr>
          <a:xfrm>
            <a:off x="7104960" y="156348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Linear Proj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d_model=128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ectangle 28"/>
          <p:cNvSpPr/>
          <p:nvPr/>
        </p:nvSpPr>
        <p:spPr>
          <a:xfrm>
            <a:off x="7059240" y="2404800"/>
            <a:ext cx="3840120" cy="68544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29"/>
          <p:cNvSpPr/>
          <p:nvPr/>
        </p:nvSpPr>
        <p:spPr>
          <a:xfrm>
            <a:off x="7104960" y="243216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CLS Token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插入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[CLS] + seq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ectangle 30"/>
          <p:cNvSpPr/>
          <p:nvPr/>
        </p:nvSpPr>
        <p:spPr>
          <a:xfrm>
            <a:off x="7059240" y="3273480"/>
            <a:ext cx="3840120" cy="68544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31"/>
          <p:cNvSpPr/>
          <p:nvPr/>
        </p:nvSpPr>
        <p:spPr>
          <a:xfrm>
            <a:off x="7104960" y="330084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TransformerEnc×4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4heads, Pre-LN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32"/>
          <p:cNvSpPr/>
          <p:nvPr/>
        </p:nvSpPr>
        <p:spPr>
          <a:xfrm>
            <a:off x="7059240" y="4142160"/>
            <a:ext cx="3840120" cy="68544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33"/>
          <p:cNvSpPr/>
          <p:nvPr/>
        </p:nvSpPr>
        <p:spPr>
          <a:xfrm>
            <a:off x="7104960" y="416952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FFN×4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dim_ff=512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4"/>
          <p:cNvSpPr/>
          <p:nvPr/>
        </p:nvSpPr>
        <p:spPr>
          <a:xfrm>
            <a:off x="7059240" y="5010840"/>
            <a:ext cx="3840120" cy="68544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35"/>
          <p:cNvSpPr/>
          <p:nvPr/>
        </p:nvSpPr>
        <p:spPr>
          <a:xfrm>
            <a:off x="7104960" y="5038200"/>
            <a:ext cx="37486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CLS Pooling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→(B,128) feat_global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6"/>
          <p:cNvSpPr/>
          <p:nvPr/>
        </p:nvSpPr>
        <p:spPr>
          <a:xfrm>
            <a:off x="1828800" y="2743200"/>
            <a:ext cx="822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↓ concat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(B,256)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37"/>
          <p:cNvSpPr/>
          <p:nvPr/>
        </p:nvSpPr>
        <p:spPr>
          <a:xfrm>
            <a:off x="2834640" y="6236280"/>
            <a:ext cx="7698960" cy="182520"/>
          </a:xfrm>
          <a:prstGeom prst="rect">
            <a:avLst/>
          </a:prstGeom>
          <a:solidFill>
            <a:srgbClr val="3E2D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38"/>
          <p:cNvSpPr/>
          <p:nvPr/>
        </p:nvSpPr>
        <p:spPr>
          <a:xfrm>
            <a:off x="2880360" y="6263640"/>
            <a:ext cx="76075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特征融合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feat_local(B,128) + feat_global(B,128)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= feat_cat(B,256)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39"/>
          <p:cNvSpPr/>
          <p:nvPr/>
        </p:nvSpPr>
        <p:spPr>
          <a:xfrm>
            <a:off x="11109960" y="1097280"/>
            <a:ext cx="822600" cy="5047200"/>
          </a:xfrm>
          <a:prstGeom prst="rect">
            <a:avLst/>
          </a:prstGeom>
          <a:solidFill>
            <a:srgbClr val="E8F5E9"/>
          </a:solidFill>
          <a:ln w="25400">
            <a:solidFill>
              <a:srgbClr val="2CA0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40"/>
          <p:cNvSpPr/>
          <p:nvPr/>
        </p:nvSpPr>
        <p:spPr>
          <a:xfrm>
            <a:off x="11137320" y="1188720"/>
            <a:ext cx="749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1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1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41"/>
          <p:cNvSpPr/>
          <p:nvPr/>
        </p:nvSpPr>
        <p:spPr>
          <a:xfrm>
            <a:off x="11137320" y="2377440"/>
            <a:ext cx="749520" cy="63972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42"/>
          <p:cNvSpPr/>
          <p:nvPr/>
        </p:nvSpPr>
        <p:spPr>
          <a:xfrm>
            <a:off x="11183040" y="2404800"/>
            <a:ext cx="658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UserGraph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Attn(ep30+)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43"/>
          <p:cNvSpPr/>
          <p:nvPr/>
        </p:nvSpPr>
        <p:spPr>
          <a:xfrm>
            <a:off x="11137320" y="3127320"/>
            <a:ext cx="749520" cy="63972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44"/>
          <p:cNvSpPr/>
          <p:nvPr/>
        </p:nvSpPr>
        <p:spPr>
          <a:xfrm>
            <a:off x="11183040" y="3154680"/>
            <a:ext cx="658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Dropout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(p=0.2)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45"/>
          <p:cNvSpPr/>
          <p:nvPr/>
        </p:nvSpPr>
        <p:spPr>
          <a:xfrm>
            <a:off x="11137320" y="3877200"/>
            <a:ext cx="749520" cy="63972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46"/>
          <p:cNvSpPr/>
          <p:nvPr/>
        </p:nvSpPr>
        <p:spPr>
          <a:xfrm>
            <a:off x="11183040" y="3904560"/>
            <a:ext cx="658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MLP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(256→64→1)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47"/>
          <p:cNvSpPr/>
          <p:nvPr/>
        </p:nvSpPr>
        <p:spPr>
          <a:xfrm>
            <a:off x="11137320" y="4626720"/>
            <a:ext cx="749520" cy="63972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48"/>
          <p:cNvSpPr/>
          <p:nvPr/>
        </p:nvSpPr>
        <p:spPr>
          <a:xfrm>
            <a:off x="11183040" y="4654440"/>
            <a:ext cx="658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Sigmoid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 logit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49"/>
          <p:cNvSpPr/>
          <p:nvPr/>
        </p:nvSpPr>
        <p:spPr>
          <a:xfrm>
            <a:off x="11137320" y="5376600"/>
            <a:ext cx="749520" cy="63972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50"/>
          <p:cNvSpPr/>
          <p:nvPr/>
        </p:nvSpPr>
        <p:spPr>
          <a:xfrm>
            <a:off x="11183040" y="5403960"/>
            <a:ext cx="658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AdaptiveFocal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端到端完整数据流框图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End-to-End Data Flow Diagram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9"/>
          <p:cNvSpPr/>
          <p:nvPr/>
        </p:nvSpPr>
        <p:spPr>
          <a:xfrm>
            <a:off x="201240" y="1188720"/>
            <a:ext cx="1663920" cy="3837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10"/>
          <p:cNvSpPr/>
          <p:nvPr/>
        </p:nvSpPr>
        <p:spPr>
          <a:xfrm>
            <a:off x="201240" y="1207080"/>
            <a:ext cx="1663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① 数据预处理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11"/>
          <p:cNvSpPr/>
          <p:nvPr/>
        </p:nvSpPr>
        <p:spPr>
          <a:xfrm>
            <a:off x="201240" y="1572840"/>
            <a:ext cx="1663920" cy="2559960"/>
          </a:xfrm>
          <a:prstGeom prst="rect">
            <a:avLst/>
          </a:prstGeom>
          <a:solidFill>
            <a:srgbClr val="F0F4F8"/>
          </a:solidFill>
          <a:ln w="19050">
            <a:solidFill>
              <a:srgbClr val="0D2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Box 12"/>
          <p:cNvSpPr/>
          <p:nvPr/>
        </p:nvSpPr>
        <p:spPr>
          <a:xfrm>
            <a:off x="255960" y="1645920"/>
            <a:ext cx="15541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原始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SGCC CSV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↓线性插值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↓Z-score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归一化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↓极端值裁剪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(42372, 1000)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13"/>
          <p:cNvSpPr/>
          <p:nvPr/>
        </p:nvSpPr>
        <p:spPr>
          <a:xfrm>
            <a:off x="1865520" y="24872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14"/>
          <p:cNvSpPr/>
          <p:nvPr/>
        </p:nvSpPr>
        <p:spPr>
          <a:xfrm>
            <a:off x="2194560" y="1188720"/>
            <a:ext cx="1663920" cy="3837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15"/>
          <p:cNvSpPr/>
          <p:nvPr/>
        </p:nvSpPr>
        <p:spPr>
          <a:xfrm>
            <a:off x="2194560" y="1207080"/>
            <a:ext cx="1663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② RMT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谱分析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16"/>
          <p:cNvSpPr/>
          <p:nvPr/>
        </p:nvSpPr>
        <p:spPr>
          <a:xfrm>
            <a:off x="2194560" y="1572840"/>
            <a:ext cx="1663920" cy="25599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17"/>
          <p:cNvSpPr/>
          <p:nvPr/>
        </p:nvSpPr>
        <p:spPr>
          <a:xfrm>
            <a:off x="2249280" y="1645920"/>
            <a:ext cx="15541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滑动窗口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×144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↓LedoitWolf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↓M-P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边界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↓特征值分解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→谱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Token7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8"/>
          <p:cNvSpPr/>
          <p:nvPr/>
        </p:nvSpPr>
        <p:spPr>
          <a:xfrm>
            <a:off x="3858840" y="24872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19"/>
          <p:cNvSpPr/>
          <p:nvPr/>
        </p:nvSpPr>
        <p:spPr>
          <a:xfrm>
            <a:off x="4187880" y="1188720"/>
            <a:ext cx="1663920" cy="38376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20"/>
          <p:cNvSpPr/>
          <p:nvPr/>
        </p:nvSpPr>
        <p:spPr>
          <a:xfrm>
            <a:off x="4187880" y="1207080"/>
            <a:ext cx="1663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③ 28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维特征工程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21"/>
          <p:cNvSpPr/>
          <p:nvPr/>
        </p:nvSpPr>
        <p:spPr>
          <a:xfrm>
            <a:off x="4187880" y="1572840"/>
            <a:ext cx="1663920" cy="2559960"/>
          </a:xfrm>
          <a:prstGeom prst="rect">
            <a:avLst/>
          </a:prstGeom>
          <a:solidFill>
            <a:srgbClr val="F0F4F8"/>
          </a:solidFill>
          <a:ln w="19050">
            <a:solidFill>
              <a:srgbClr val="2CA0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22"/>
          <p:cNvSpPr/>
          <p:nvPr/>
        </p:nvSpPr>
        <p:spPr>
          <a:xfrm>
            <a:off x="4242960" y="1645920"/>
            <a:ext cx="15541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Token1~5 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谱投影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↓+Token6~16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统计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↓+Token17~21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跨窗口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↓+Token22~28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混沌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→(42372,48,28)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23"/>
          <p:cNvSpPr/>
          <p:nvPr/>
        </p:nvSpPr>
        <p:spPr>
          <a:xfrm>
            <a:off x="5852160" y="24872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24"/>
          <p:cNvSpPr/>
          <p:nvPr/>
        </p:nvSpPr>
        <p:spPr>
          <a:xfrm>
            <a:off x="6181200" y="1188720"/>
            <a:ext cx="1663920" cy="38376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25"/>
          <p:cNvSpPr/>
          <p:nvPr/>
        </p:nvSpPr>
        <p:spPr>
          <a:xfrm>
            <a:off x="6181200" y="1207080"/>
            <a:ext cx="1663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④ 双路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26"/>
          <p:cNvSpPr/>
          <p:nvPr/>
        </p:nvSpPr>
        <p:spPr>
          <a:xfrm>
            <a:off x="6181200" y="1572840"/>
            <a:ext cx="1663920" cy="2559960"/>
          </a:xfrm>
          <a:prstGeom prst="rect">
            <a:avLst/>
          </a:prstGeom>
          <a:solidFill>
            <a:srgbClr val="F0F4F8"/>
          </a:solidFill>
          <a:ln w="19050">
            <a:solidFill>
              <a:srgbClr val="8B00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27"/>
          <p:cNvSpPr/>
          <p:nvPr/>
        </p:nvSpPr>
        <p:spPr>
          <a:xfrm>
            <a:off x="6236280" y="1645920"/>
            <a:ext cx="15541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LocalWinAttn×4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+CLS Global×4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↓feat_cat(B,256)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↓AdaptiveFocalLoss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→AUC=0.7602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28"/>
          <p:cNvSpPr/>
          <p:nvPr/>
        </p:nvSpPr>
        <p:spPr>
          <a:xfrm>
            <a:off x="7845480" y="24872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29"/>
          <p:cNvSpPr/>
          <p:nvPr/>
        </p:nvSpPr>
        <p:spPr>
          <a:xfrm>
            <a:off x="8174880" y="1188720"/>
            <a:ext cx="1663920" cy="38376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30"/>
          <p:cNvSpPr/>
          <p:nvPr/>
        </p:nvSpPr>
        <p:spPr>
          <a:xfrm>
            <a:off x="8174880" y="1207080"/>
            <a:ext cx="1663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⑤ FedAvg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聚合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31"/>
          <p:cNvSpPr/>
          <p:nvPr/>
        </p:nvSpPr>
        <p:spPr>
          <a:xfrm>
            <a:off x="8174880" y="1572840"/>
            <a:ext cx="1663920" cy="2559960"/>
          </a:xfrm>
          <a:prstGeom prst="rect">
            <a:avLst/>
          </a:prstGeom>
          <a:solidFill>
            <a:srgbClr val="F0F4F8"/>
          </a:solidFill>
          <a:ln w="19050">
            <a:solidFill>
              <a:srgbClr val="FF7F0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Box 32"/>
          <p:cNvSpPr/>
          <p:nvPr/>
        </p:nvSpPr>
        <p:spPr>
          <a:xfrm>
            <a:off x="8229600" y="1645920"/>
            <a:ext cx="15541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3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站点本地训练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↓上传∆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↓加权聚合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w=Σ(nk/n)wk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→隐私保护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33"/>
          <p:cNvSpPr/>
          <p:nvPr/>
        </p:nvSpPr>
        <p:spPr>
          <a:xfrm>
            <a:off x="9838800" y="24872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34"/>
          <p:cNvSpPr/>
          <p:nvPr/>
        </p:nvSpPr>
        <p:spPr>
          <a:xfrm>
            <a:off x="10168200" y="1188720"/>
            <a:ext cx="1663920" cy="383760"/>
          </a:xfrm>
          <a:prstGeom prst="rect">
            <a:avLst/>
          </a:prstGeom>
          <a:solidFill>
            <a:srgbClr val="D627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35"/>
          <p:cNvSpPr/>
          <p:nvPr/>
        </p:nvSpPr>
        <p:spPr>
          <a:xfrm>
            <a:off x="10168200" y="1207080"/>
            <a:ext cx="1663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⑥ Stacking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集成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36"/>
          <p:cNvSpPr/>
          <p:nvPr/>
        </p:nvSpPr>
        <p:spPr>
          <a:xfrm>
            <a:off x="10168200" y="1572840"/>
            <a:ext cx="1663920" cy="2559960"/>
          </a:xfrm>
          <a:prstGeom prst="rect">
            <a:avLst/>
          </a:prstGeom>
          <a:solidFill>
            <a:srgbClr val="F0F4F8"/>
          </a:solidFill>
          <a:ln w="19050">
            <a:solidFill>
              <a:srgbClr val="D627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37"/>
          <p:cNvSpPr/>
          <p:nvPr/>
        </p:nvSpPr>
        <p:spPr>
          <a:xfrm>
            <a:off x="10222920" y="1645920"/>
            <a:ext cx="15541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概率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+XGBoost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概率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+256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维深度特征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↓LogReg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融合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→AUC=0.7651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38"/>
          <p:cNvSpPr/>
          <p:nvPr/>
        </p:nvSpPr>
        <p:spPr>
          <a:xfrm>
            <a:off x="201240" y="4224600"/>
            <a:ext cx="3785400" cy="1352880"/>
          </a:xfrm>
          <a:prstGeom prst="rect">
            <a:avLst/>
          </a:prstGeom>
          <a:solidFill>
            <a:srgbClr val="F8FAFF"/>
          </a:solidFill>
          <a:ln w="25400">
            <a:solidFill>
              <a:srgbClr val="0D2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39"/>
          <p:cNvSpPr/>
          <p:nvPr/>
        </p:nvSpPr>
        <p:spPr>
          <a:xfrm>
            <a:off x="292680" y="4251960"/>
            <a:ext cx="361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无监督谱分析子系统（边端执行）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40"/>
          <p:cNvSpPr/>
          <p:nvPr/>
        </p:nvSpPr>
        <p:spPr>
          <a:xfrm>
            <a:off x="292680" y="4645080"/>
            <a:ext cx="3611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RMT+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特征工程：无需标签，计算轻量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可在变电站边端独立运行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ectangle 41"/>
          <p:cNvSpPr/>
          <p:nvPr/>
        </p:nvSpPr>
        <p:spPr>
          <a:xfrm>
            <a:off x="4187880" y="4224600"/>
            <a:ext cx="3785400" cy="1352880"/>
          </a:xfrm>
          <a:prstGeom prst="rect">
            <a:avLst/>
          </a:prstGeom>
          <a:solidFill>
            <a:srgbClr val="F8FAFF"/>
          </a:solidFill>
          <a:ln w="2540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TextBox 42"/>
          <p:cNvSpPr/>
          <p:nvPr/>
        </p:nvSpPr>
        <p:spPr>
          <a:xfrm>
            <a:off x="4279320" y="4251960"/>
            <a:ext cx="361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深度学习子系统（本地训练）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43"/>
          <p:cNvSpPr/>
          <p:nvPr/>
        </p:nvSpPr>
        <p:spPr>
          <a:xfrm>
            <a:off x="4279320" y="4645080"/>
            <a:ext cx="3611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双路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：深度挖掘时序异常模式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参数量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~200K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，支持边端部署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44"/>
          <p:cNvSpPr/>
          <p:nvPr/>
        </p:nvSpPr>
        <p:spPr>
          <a:xfrm>
            <a:off x="8174880" y="4224600"/>
            <a:ext cx="3785400" cy="1352880"/>
          </a:xfrm>
          <a:prstGeom prst="rect">
            <a:avLst/>
          </a:prstGeom>
          <a:solidFill>
            <a:srgbClr val="F8FAFF"/>
          </a:solidFill>
          <a:ln w="25400">
            <a:solidFill>
              <a:srgbClr val="D627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45"/>
          <p:cNvSpPr/>
          <p:nvPr/>
        </p:nvSpPr>
        <p:spPr>
          <a:xfrm>
            <a:off x="8266320" y="4251960"/>
            <a:ext cx="361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D62728"/>
                </a:solidFill>
                <a:effectLst/>
                <a:uFillTx/>
                <a:latin typeface="Calibri"/>
              </a:rPr>
              <a:t>联邦聚合子系统（云端协调）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46"/>
          <p:cNvSpPr/>
          <p:nvPr/>
        </p:nvSpPr>
        <p:spPr>
          <a:xfrm>
            <a:off x="8266320" y="4645080"/>
            <a:ext cx="3611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FedAvg+Stacking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：隐私保护聚合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最终决策在云端，原始数据不出站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47"/>
          <p:cNvSpPr/>
          <p:nvPr/>
        </p:nvSpPr>
        <p:spPr>
          <a:xfrm>
            <a:off x="201240" y="5650920"/>
            <a:ext cx="11786400" cy="6580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48"/>
          <p:cNvSpPr/>
          <p:nvPr/>
        </p:nvSpPr>
        <p:spPr>
          <a:xfrm>
            <a:off x="384120" y="5742360"/>
            <a:ext cx="11411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✅ 全流程已完整实现：</a:t>
            </a: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RMT(0.5872) → Transformer(0.7602) → Stacking(0.7651)  </a:t>
            </a:r>
            <a:r>
              <a:rPr lang="zh-CN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累计提升 </a:t>
            </a: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+17.9pp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联邦学习框架（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FedAvg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）——隐私保护协同训练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Federated Learning Framework — Privacy-Preserving Collaborative Training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9"/>
          <p:cNvSpPr/>
          <p:nvPr/>
        </p:nvSpPr>
        <p:spPr>
          <a:xfrm>
            <a:off x="274320" y="1143000"/>
            <a:ext cx="3108600" cy="21758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10"/>
          <p:cNvSpPr/>
          <p:nvPr/>
        </p:nvSpPr>
        <p:spPr>
          <a:xfrm>
            <a:off x="274320" y="1216080"/>
            <a:ext cx="3108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变电站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11"/>
          <p:cNvSpPr/>
          <p:nvPr/>
        </p:nvSpPr>
        <p:spPr>
          <a:xfrm>
            <a:off x="274320" y="16826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~14,124 </a:t>
            </a:r>
            <a:r>
              <a:rPr lang="zh-CN" sz="13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户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12"/>
          <p:cNvSpPr/>
          <p:nvPr/>
        </p:nvSpPr>
        <p:spPr>
          <a:xfrm>
            <a:off x="365760" y="2066400"/>
            <a:ext cx="2925720" cy="1096920"/>
          </a:xfrm>
          <a:prstGeom prst="rect">
            <a:avLst/>
          </a:prstGeom>
          <a:solidFill>
            <a:srgbClr val="155E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13"/>
          <p:cNvSpPr/>
          <p:nvPr/>
        </p:nvSpPr>
        <p:spPr>
          <a:xfrm>
            <a:off x="411480" y="2121480"/>
            <a:ext cx="283428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本地训练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轮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× local_epochs=3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上传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ΔW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~200K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参数）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4"/>
          <p:cNvSpPr/>
          <p:nvPr/>
        </p:nvSpPr>
        <p:spPr>
          <a:xfrm>
            <a:off x="548640" y="336492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↑ 上传</a:t>
            </a: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ΔW   ↓ </a:t>
            </a:r>
            <a:r>
              <a:rPr lang="zh-CN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广播</a:t>
            </a: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W_global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15"/>
          <p:cNvSpPr/>
          <p:nvPr/>
        </p:nvSpPr>
        <p:spPr>
          <a:xfrm>
            <a:off x="3767400" y="1143000"/>
            <a:ext cx="3108600" cy="21758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16"/>
          <p:cNvSpPr/>
          <p:nvPr/>
        </p:nvSpPr>
        <p:spPr>
          <a:xfrm>
            <a:off x="3767400" y="1216080"/>
            <a:ext cx="3108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变电站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7"/>
          <p:cNvSpPr/>
          <p:nvPr/>
        </p:nvSpPr>
        <p:spPr>
          <a:xfrm>
            <a:off x="3767400" y="16826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~14,124 </a:t>
            </a:r>
            <a:r>
              <a:rPr lang="zh-CN" sz="13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户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18"/>
          <p:cNvSpPr/>
          <p:nvPr/>
        </p:nvSpPr>
        <p:spPr>
          <a:xfrm>
            <a:off x="3858840" y="2066400"/>
            <a:ext cx="2925720" cy="1096920"/>
          </a:xfrm>
          <a:prstGeom prst="rect">
            <a:avLst/>
          </a:prstGeom>
          <a:solidFill>
            <a:srgbClr val="155E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19"/>
          <p:cNvSpPr/>
          <p:nvPr/>
        </p:nvSpPr>
        <p:spPr>
          <a:xfrm>
            <a:off x="3904560" y="2121480"/>
            <a:ext cx="283428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本地训练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轮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× local_epochs=3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上传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ΔW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~200K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参数）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20"/>
          <p:cNvSpPr/>
          <p:nvPr/>
        </p:nvSpPr>
        <p:spPr>
          <a:xfrm>
            <a:off x="4041720" y="336492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↑ 上传</a:t>
            </a: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ΔW   ↓ </a:t>
            </a:r>
            <a:r>
              <a:rPr lang="zh-CN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广播</a:t>
            </a: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W_global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21"/>
          <p:cNvSpPr/>
          <p:nvPr/>
        </p:nvSpPr>
        <p:spPr>
          <a:xfrm>
            <a:off x="7260480" y="1143000"/>
            <a:ext cx="3108600" cy="21758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22"/>
          <p:cNvSpPr/>
          <p:nvPr/>
        </p:nvSpPr>
        <p:spPr>
          <a:xfrm>
            <a:off x="7260480" y="1216080"/>
            <a:ext cx="3108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变电站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3"/>
          <p:cNvSpPr/>
          <p:nvPr/>
        </p:nvSpPr>
        <p:spPr>
          <a:xfrm>
            <a:off x="7260480" y="16826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~14,124 </a:t>
            </a:r>
            <a:r>
              <a:rPr lang="zh-CN" sz="13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户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24"/>
          <p:cNvSpPr/>
          <p:nvPr/>
        </p:nvSpPr>
        <p:spPr>
          <a:xfrm>
            <a:off x="7351920" y="2066400"/>
            <a:ext cx="2925720" cy="1096920"/>
          </a:xfrm>
          <a:prstGeom prst="rect">
            <a:avLst/>
          </a:prstGeom>
          <a:solidFill>
            <a:srgbClr val="155E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25"/>
          <p:cNvSpPr/>
          <p:nvPr/>
        </p:nvSpPr>
        <p:spPr>
          <a:xfrm>
            <a:off x="7397640" y="2121480"/>
            <a:ext cx="283428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本地训练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轮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× local_epochs=3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上传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ΔW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~200K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参数）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26"/>
          <p:cNvSpPr/>
          <p:nvPr/>
        </p:nvSpPr>
        <p:spPr>
          <a:xfrm>
            <a:off x="7534800" y="336492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↑ 上传</a:t>
            </a: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ΔW   ↓ </a:t>
            </a:r>
            <a:r>
              <a:rPr lang="zh-CN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广播</a:t>
            </a:r>
            <a:r>
              <a:rPr lang="en-US" sz="1000" b="0" u="none" strike="noStrike">
                <a:solidFill>
                  <a:srgbClr val="1F77B4"/>
                </a:solidFill>
                <a:effectLst/>
                <a:uFillTx/>
                <a:latin typeface="Calibri"/>
              </a:rPr>
              <a:t>W_global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27"/>
          <p:cNvSpPr/>
          <p:nvPr/>
        </p:nvSpPr>
        <p:spPr>
          <a:xfrm>
            <a:off x="3840480" y="3611880"/>
            <a:ext cx="4507560" cy="144432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TextBox 28"/>
          <p:cNvSpPr/>
          <p:nvPr/>
        </p:nvSpPr>
        <p:spPr>
          <a:xfrm>
            <a:off x="3840480" y="3684960"/>
            <a:ext cx="450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☁  云端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FedAvg 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聚合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29"/>
          <p:cNvSpPr/>
          <p:nvPr/>
        </p:nvSpPr>
        <p:spPr>
          <a:xfrm>
            <a:off x="3840480" y="4160520"/>
            <a:ext cx="450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w_global = Σₖ (nₖ / n_total) · wₖ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Box 30"/>
          <p:cNvSpPr/>
          <p:nvPr/>
        </p:nvSpPr>
        <p:spPr>
          <a:xfrm>
            <a:off x="3840480" y="4572000"/>
            <a:ext cx="450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预创建本地模型（避免重复</a:t>
            </a: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__init__</a:t>
            </a:r>
            <a:r>
              <a:rPr lang="zh-CN" sz="1000" b="0" u="none" strike="noStrike">
                <a:solidFill>
                  <a:srgbClr val="AACCDD"/>
                </a:solidFill>
                <a:effectLst/>
                <a:uFillTx/>
                <a:latin typeface="Calibri"/>
              </a:rPr>
              <a:t>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Rectangle 31"/>
          <p:cNvSpPr/>
          <p:nvPr/>
        </p:nvSpPr>
        <p:spPr>
          <a:xfrm>
            <a:off x="274320" y="5166360"/>
            <a:ext cx="11639880" cy="32868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Box 32"/>
          <p:cNvSpPr/>
          <p:nvPr/>
        </p:nvSpPr>
        <p:spPr>
          <a:xfrm>
            <a:off x="365760" y="5203080"/>
            <a:ext cx="1145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联邦学习关键结论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33"/>
          <p:cNvSpPr/>
          <p:nvPr/>
        </p:nvSpPr>
        <p:spPr>
          <a:xfrm>
            <a:off x="274320" y="5495400"/>
            <a:ext cx="11639880" cy="932400"/>
          </a:xfrm>
          <a:prstGeom prst="rect">
            <a:avLst/>
          </a:prstGeom>
          <a:solidFill>
            <a:srgbClr val="F0F4F8"/>
          </a:solidFill>
          <a:ln w="15240">
            <a:solidFill>
              <a:srgbClr val="2CA0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34"/>
          <p:cNvSpPr/>
          <p:nvPr/>
        </p:nvSpPr>
        <p:spPr>
          <a:xfrm>
            <a:off x="384120" y="5541120"/>
            <a:ext cx="114112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🔒 隐私保护：原始用电数据严格不离开本地变电站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35"/>
          <p:cNvSpPr/>
          <p:nvPr/>
        </p:nvSpPr>
        <p:spPr>
          <a:xfrm>
            <a:off x="384120" y="5774400"/>
            <a:ext cx="114112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📡 通信效率：每轮仅传输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~200K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浮点参数（非原始数据）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36"/>
          <p:cNvSpPr/>
          <p:nvPr/>
        </p:nvSpPr>
        <p:spPr>
          <a:xfrm>
            <a:off x="384120" y="6007680"/>
            <a:ext cx="114112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⚡ 工程优化：预创建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local_models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复用，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torch.compile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加速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37"/>
          <p:cNvSpPr/>
          <p:nvPr/>
        </p:nvSpPr>
        <p:spPr>
          <a:xfrm>
            <a:off x="384120" y="6240960"/>
            <a:ext cx="114112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✅ 实验验证：联邦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与集中式训练相当，隐私代价极小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09  XGBoost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集成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Stacking——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异质模型融合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Ensemble Learning: XGBoost + Stacking Meta-Learner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9"/>
          <p:cNvSpPr/>
          <p:nvPr/>
        </p:nvSpPr>
        <p:spPr>
          <a:xfrm>
            <a:off x="255960" y="1115640"/>
            <a:ext cx="5668920" cy="328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10"/>
          <p:cNvSpPr/>
          <p:nvPr/>
        </p:nvSpPr>
        <p:spPr>
          <a:xfrm>
            <a:off x="347400" y="11520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🔧 实现细节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11"/>
          <p:cNvSpPr/>
          <p:nvPr/>
        </p:nvSpPr>
        <p:spPr>
          <a:xfrm>
            <a:off x="255960" y="1444680"/>
            <a:ext cx="5668920" cy="3831120"/>
          </a:xfrm>
          <a:prstGeom prst="rect">
            <a:avLst/>
          </a:prstGeom>
          <a:solidFill>
            <a:srgbClr val="F0F4F8"/>
          </a:solidFill>
          <a:ln w="15240">
            <a:solidFill>
              <a:srgbClr val="0D2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12"/>
          <p:cNvSpPr/>
          <p:nvPr/>
        </p:nvSpPr>
        <p:spPr>
          <a:xfrm>
            <a:off x="365760" y="1490400"/>
            <a:ext cx="544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提取双路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 256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维中间特征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13"/>
          <p:cNvSpPr/>
          <p:nvPr/>
        </p:nvSpPr>
        <p:spPr>
          <a:xfrm>
            <a:off x="365760" y="2129040"/>
            <a:ext cx="544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  feat_local(B,128) + feat_global(B,128)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14"/>
          <p:cNvSpPr/>
          <p:nvPr/>
        </p:nvSpPr>
        <p:spPr>
          <a:xfrm>
            <a:off x="365760" y="2767680"/>
            <a:ext cx="544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拼接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224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维手工统计特征（均值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方差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/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分位数）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15"/>
          <p:cNvSpPr/>
          <p:nvPr/>
        </p:nvSpPr>
        <p:spPr>
          <a:xfrm>
            <a:off x="365760" y="3405960"/>
            <a:ext cx="544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XGBoost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：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600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棵树，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max_depth=6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，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early stopping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16"/>
          <p:cNvSpPr/>
          <p:nvPr/>
        </p:nvSpPr>
        <p:spPr>
          <a:xfrm>
            <a:off x="365760" y="4044600"/>
            <a:ext cx="544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XGBoost 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单独 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 = 0.7560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17"/>
          <p:cNvSpPr/>
          <p:nvPr/>
        </p:nvSpPr>
        <p:spPr>
          <a:xfrm>
            <a:off x="365760" y="4683240"/>
            <a:ext cx="544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Stacking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：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LogisticRegression 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融合两路输出概率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Rectangle 18"/>
          <p:cNvSpPr/>
          <p:nvPr/>
        </p:nvSpPr>
        <p:spPr>
          <a:xfrm>
            <a:off x="6080760" y="1115640"/>
            <a:ext cx="5851800" cy="4160160"/>
          </a:xfrm>
          <a:prstGeom prst="rect">
            <a:avLst/>
          </a:prstGeom>
          <a:solidFill>
            <a:srgbClr val="E8F0FE"/>
          </a:solidFill>
          <a:ln w="190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TextBox 19"/>
          <p:cNvSpPr/>
          <p:nvPr/>
        </p:nvSpPr>
        <p:spPr>
          <a:xfrm>
            <a:off x="6172200" y="1134000"/>
            <a:ext cx="5668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Stacking </a:t>
            </a:r>
            <a:r>
              <a:rPr lang="zh-CN" sz="12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融合流程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Rectangle 20"/>
          <p:cNvSpPr/>
          <p:nvPr/>
        </p:nvSpPr>
        <p:spPr>
          <a:xfrm>
            <a:off x="6263640" y="1536120"/>
            <a:ext cx="5440320" cy="50256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TextBox 21"/>
          <p:cNvSpPr/>
          <p:nvPr/>
        </p:nvSpPr>
        <p:spPr>
          <a:xfrm>
            <a:off x="6309360" y="1563480"/>
            <a:ext cx="53488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 </a:t>
            </a:r>
            <a:r>
              <a:rPr lang="zh-CN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预测概率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Rectangle 22"/>
          <p:cNvSpPr/>
          <p:nvPr/>
        </p:nvSpPr>
        <p:spPr>
          <a:xfrm>
            <a:off x="6263640" y="2121480"/>
            <a:ext cx="5440320" cy="5025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TextBox 23"/>
          <p:cNvSpPr/>
          <p:nvPr/>
        </p:nvSpPr>
        <p:spPr>
          <a:xfrm>
            <a:off x="6309360" y="2148840"/>
            <a:ext cx="53488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XGBoost </a:t>
            </a:r>
            <a:r>
              <a:rPr lang="zh-CN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预测概率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ectangle 24"/>
          <p:cNvSpPr/>
          <p:nvPr/>
        </p:nvSpPr>
        <p:spPr>
          <a:xfrm>
            <a:off x="6263640" y="2706480"/>
            <a:ext cx="5440320" cy="50256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TextBox 25"/>
          <p:cNvSpPr/>
          <p:nvPr/>
        </p:nvSpPr>
        <p:spPr>
          <a:xfrm>
            <a:off x="6309360" y="2734200"/>
            <a:ext cx="53488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 256</a:t>
            </a:r>
            <a:r>
              <a:rPr lang="zh-CN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维深度特征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26"/>
          <p:cNvSpPr/>
          <p:nvPr/>
        </p:nvSpPr>
        <p:spPr>
          <a:xfrm>
            <a:off x="6263640" y="3310200"/>
            <a:ext cx="5440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↓  LogisticRegression </a:t>
            </a:r>
            <a:r>
              <a:rPr lang="zh-CN" sz="1100" b="1" u="none" strike="noStrike">
                <a:solidFill>
                  <a:srgbClr val="0D2B55"/>
                </a:solidFill>
                <a:effectLst/>
                <a:uFillTx/>
                <a:latin typeface="Calibri"/>
              </a:rPr>
              <a:t>元学习器  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ectangle 27"/>
          <p:cNvSpPr/>
          <p:nvPr/>
        </p:nvSpPr>
        <p:spPr>
          <a:xfrm>
            <a:off x="6263640" y="3767400"/>
            <a:ext cx="5440320" cy="621360"/>
          </a:xfrm>
          <a:prstGeom prst="rect">
            <a:avLst/>
          </a:prstGeom>
          <a:solidFill>
            <a:srgbClr val="D627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28"/>
          <p:cNvSpPr/>
          <p:nvPr/>
        </p:nvSpPr>
        <p:spPr>
          <a:xfrm>
            <a:off x="6309360" y="3794760"/>
            <a:ext cx="5348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最终异常评分 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AUC = 0.7651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F1 = 0.3317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29"/>
          <p:cNvSpPr/>
          <p:nvPr/>
        </p:nvSpPr>
        <p:spPr>
          <a:xfrm>
            <a:off x="255960" y="5376600"/>
            <a:ext cx="11685600" cy="621360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TextBox 30"/>
          <p:cNvSpPr/>
          <p:nvPr/>
        </p:nvSpPr>
        <p:spPr>
          <a:xfrm>
            <a:off x="411480" y="5422320"/>
            <a:ext cx="11338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8B4500"/>
                </a:solidFill>
                <a:effectLst/>
                <a:uFillTx/>
                <a:latin typeface="Calibri"/>
              </a:rPr>
              <a:t>💡 集成原理：</a:t>
            </a:r>
            <a:r>
              <a:rPr lang="en-US" sz="1100" b="0" u="none" strike="noStrike">
                <a:solidFill>
                  <a:srgbClr val="8B4500"/>
                </a:solidFill>
                <a:effectLst/>
                <a:uFillTx/>
                <a:latin typeface="Calibri"/>
              </a:rPr>
              <a:t>XGBoost </a:t>
            </a:r>
            <a:r>
              <a:rPr lang="zh-CN" sz="1100" b="0" u="none" strike="noStrike">
                <a:solidFill>
                  <a:srgbClr val="8B4500"/>
                </a:solidFill>
                <a:effectLst/>
                <a:uFillTx/>
                <a:latin typeface="Calibri"/>
              </a:rPr>
              <a:t>擅长稀疏手工统计特征，</a:t>
            </a:r>
            <a:r>
              <a:rPr lang="en-US" sz="1100" b="0" u="none" strike="noStrike">
                <a:solidFill>
                  <a:srgbClr val="8B4500"/>
                </a:solidFill>
                <a:effectLst/>
                <a:uFillTx/>
                <a:latin typeface="Calibri"/>
              </a:rPr>
              <a:t>Transformer </a:t>
            </a:r>
            <a:r>
              <a:rPr lang="zh-CN" sz="1100" b="0" u="none" strike="noStrike">
                <a:solidFill>
                  <a:srgbClr val="8B4500"/>
                </a:solidFill>
                <a:effectLst/>
                <a:uFillTx/>
                <a:latin typeface="Calibri"/>
              </a:rPr>
              <a:t>擅长时序深度模式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>
                <a:solidFill>
                  <a:srgbClr val="8B4500"/>
                </a:solidFill>
                <a:effectLst/>
                <a:uFillTx/>
                <a:latin typeface="Calibri"/>
              </a:rPr>
              <a:t>两者互补性经 </a:t>
            </a:r>
            <a:r>
              <a:rPr lang="en-US" sz="1100" b="0" u="none" strike="noStrike">
                <a:solidFill>
                  <a:srgbClr val="8B4500"/>
                </a:solidFill>
                <a:effectLst/>
                <a:uFillTx/>
                <a:latin typeface="Calibri"/>
              </a:rPr>
              <a:t>Stacking </a:t>
            </a:r>
            <a:r>
              <a:rPr lang="zh-CN" sz="1100" b="0" u="none" strike="noStrike">
                <a:solidFill>
                  <a:srgbClr val="8B4500"/>
                </a:solidFill>
                <a:effectLst/>
                <a:uFillTx/>
                <a:latin typeface="Calibri"/>
              </a:rPr>
              <a:t>融合后实现超越单模型的性能突破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对比实验设计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Comparative Experiment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ectangle 9"/>
          <p:cNvSpPr/>
          <p:nvPr/>
        </p:nvSpPr>
        <p:spPr>
          <a:xfrm>
            <a:off x="255960" y="1097280"/>
            <a:ext cx="11685600" cy="38376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TextBox 10"/>
          <p:cNvSpPr/>
          <p:nvPr/>
        </p:nvSpPr>
        <p:spPr>
          <a:xfrm>
            <a:off x="329040" y="112464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对比方法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11"/>
          <p:cNvSpPr/>
          <p:nvPr/>
        </p:nvSpPr>
        <p:spPr>
          <a:xfrm>
            <a:off x="3163680" y="112464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方法类别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12"/>
          <p:cNvSpPr/>
          <p:nvPr/>
        </p:nvSpPr>
        <p:spPr>
          <a:xfrm>
            <a:off x="5541120" y="1124640"/>
            <a:ext cx="4663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核心配置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13"/>
          <p:cNvSpPr/>
          <p:nvPr/>
        </p:nvSpPr>
        <p:spPr>
          <a:xfrm>
            <a:off x="10296000" y="112464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预期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已有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14"/>
          <p:cNvSpPr/>
          <p:nvPr/>
        </p:nvSpPr>
        <p:spPr>
          <a:xfrm>
            <a:off x="255960" y="1517760"/>
            <a:ext cx="11685600" cy="566640"/>
          </a:xfrm>
          <a:prstGeom prst="rect">
            <a:avLst/>
          </a:prstGeom>
          <a:solidFill>
            <a:srgbClr val="E3F2FD"/>
          </a:solidFill>
          <a:ln w="508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TextBox 15"/>
          <p:cNvSpPr/>
          <p:nvPr/>
        </p:nvSpPr>
        <p:spPr>
          <a:xfrm>
            <a:off x="311040" y="1581840"/>
            <a:ext cx="27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RMT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谱分析（本文）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16"/>
          <p:cNvSpPr/>
          <p:nvPr/>
        </p:nvSpPr>
        <p:spPr>
          <a:xfrm>
            <a:off x="3163680" y="158184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无监督基线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17"/>
          <p:cNvSpPr/>
          <p:nvPr/>
        </p:nvSpPr>
        <p:spPr>
          <a:xfrm>
            <a:off x="5541120" y="158184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M-P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边界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+LedoitWolf+MAD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估计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σ²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18"/>
          <p:cNvSpPr/>
          <p:nvPr/>
        </p:nvSpPr>
        <p:spPr>
          <a:xfrm>
            <a:off x="10296000" y="158184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0.5872 ✅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已复现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19"/>
          <p:cNvSpPr/>
          <p:nvPr/>
        </p:nvSpPr>
        <p:spPr>
          <a:xfrm>
            <a:off x="255960" y="2139840"/>
            <a:ext cx="11685600" cy="566640"/>
          </a:xfrm>
          <a:prstGeom prst="rect">
            <a:avLst/>
          </a:prstGeom>
          <a:solidFill>
            <a:srgbClr val="E3F2FD"/>
          </a:solidFill>
          <a:ln w="508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TextBox 20"/>
          <p:cNvSpPr/>
          <p:nvPr/>
        </p:nvSpPr>
        <p:spPr>
          <a:xfrm>
            <a:off x="311040" y="2203560"/>
            <a:ext cx="27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双路</a:t>
            </a: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Transformer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（本文）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21"/>
          <p:cNvSpPr/>
          <p:nvPr/>
        </p:nvSpPr>
        <p:spPr>
          <a:xfrm>
            <a:off x="3163680" y="220356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深度学习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22"/>
          <p:cNvSpPr/>
          <p:nvPr/>
        </p:nvSpPr>
        <p:spPr>
          <a:xfrm>
            <a:off x="5541120" y="220356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LocalWin+CLS, d=128, 4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层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, AdaptiveFocal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23"/>
          <p:cNvSpPr/>
          <p:nvPr/>
        </p:nvSpPr>
        <p:spPr>
          <a:xfrm>
            <a:off x="10296000" y="22035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0.7602 ✅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已复现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24"/>
          <p:cNvSpPr/>
          <p:nvPr/>
        </p:nvSpPr>
        <p:spPr>
          <a:xfrm>
            <a:off x="255960" y="2761560"/>
            <a:ext cx="11685600" cy="566640"/>
          </a:xfrm>
          <a:prstGeom prst="rect">
            <a:avLst/>
          </a:prstGeom>
          <a:solidFill>
            <a:srgbClr val="E8F5E9"/>
          </a:solidFill>
          <a:ln w="508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25"/>
          <p:cNvSpPr/>
          <p:nvPr/>
        </p:nvSpPr>
        <p:spPr>
          <a:xfrm>
            <a:off x="311040" y="2825640"/>
            <a:ext cx="27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本文集成（本文）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26"/>
          <p:cNvSpPr/>
          <p:nvPr/>
        </p:nvSpPr>
        <p:spPr>
          <a:xfrm>
            <a:off x="3163680" y="282564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集成模型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27"/>
          <p:cNvSpPr/>
          <p:nvPr/>
        </p:nvSpPr>
        <p:spPr>
          <a:xfrm>
            <a:off x="5541120" y="282564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Transformer+XGBoost+Stacking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28"/>
          <p:cNvSpPr/>
          <p:nvPr/>
        </p:nvSpPr>
        <p:spPr>
          <a:xfrm>
            <a:off x="10296000" y="282564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0.7651 ✅</a:t>
            </a:r>
            <a:r>
              <a:rPr lang="zh-CN" sz="10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已复现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Rectangle 29"/>
          <p:cNvSpPr/>
          <p:nvPr/>
        </p:nvSpPr>
        <p:spPr>
          <a:xfrm>
            <a:off x="255960" y="3383280"/>
            <a:ext cx="11685600" cy="566640"/>
          </a:xfrm>
          <a:prstGeom prst="rect">
            <a:avLst/>
          </a:prstGeom>
          <a:solidFill>
            <a:srgbClr val="F0F4F8"/>
          </a:solidFill>
          <a:ln w="508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TextBox 30"/>
          <p:cNvSpPr/>
          <p:nvPr/>
        </p:nvSpPr>
        <p:spPr>
          <a:xfrm>
            <a:off x="311040" y="3447360"/>
            <a:ext cx="27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LSTM-AE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31"/>
          <p:cNvSpPr/>
          <p:nvPr/>
        </p:nvSpPr>
        <p:spPr>
          <a:xfrm>
            <a:off x="3163680" y="344736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深度无监督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32"/>
          <p:cNvSpPr/>
          <p:nvPr/>
        </p:nvSpPr>
        <p:spPr>
          <a:xfrm>
            <a:off x="5541120" y="344736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层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LSTM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编码器，重构误差为异常分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33"/>
          <p:cNvSpPr/>
          <p:nvPr/>
        </p:nvSpPr>
        <p:spPr>
          <a:xfrm>
            <a:off x="10296000" y="34473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待实验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34"/>
          <p:cNvSpPr/>
          <p:nvPr/>
        </p:nvSpPr>
        <p:spPr>
          <a:xfrm>
            <a:off x="255960" y="4005000"/>
            <a:ext cx="11685600" cy="566640"/>
          </a:xfrm>
          <a:prstGeom prst="rect">
            <a:avLst/>
          </a:prstGeom>
          <a:solidFill>
            <a:srgbClr val="F0F4F8"/>
          </a:solidFill>
          <a:ln w="508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TextBox 35"/>
          <p:cNvSpPr/>
          <p:nvPr/>
        </p:nvSpPr>
        <p:spPr>
          <a:xfrm>
            <a:off x="311040" y="4069080"/>
            <a:ext cx="27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VAE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（变分自编码器）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36"/>
          <p:cNvSpPr/>
          <p:nvPr/>
        </p:nvSpPr>
        <p:spPr>
          <a:xfrm>
            <a:off x="3163680" y="406908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深度无监督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37"/>
          <p:cNvSpPr/>
          <p:nvPr/>
        </p:nvSpPr>
        <p:spPr>
          <a:xfrm>
            <a:off x="5541120" y="406908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潜变量采样，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ELBO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损失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38"/>
          <p:cNvSpPr/>
          <p:nvPr/>
        </p:nvSpPr>
        <p:spPr>
          <a:xfrm>
            <a:off x="10296000" y="40690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待实验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39"/>
          <p:cNvSpPr/>
          <p:nvPr/>
        </p:nvSpPr>
        <p:spPr>
          <a:xfrm>
            <a:off x="255960" y="4626720"/>
            <a:ext cx="11685600" cy="566640"/>
          </a:xfrm>
          <a:prstGeom prst="rect">
            <a:avLst/>
          </a:prstGeom>
          <a:solidFill>
            <a:srgbClr val="F0F4F8"/>
          </a:solidFill>
          <a:ln w="508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40"/>
          <p:cNvSpPr/>
          <p:nvPr/>
        </p:nvSpPr>
        <p:spPr>
          <a:xfrm>
            <a:off x="311040" y="4690800"/>
            <a:ext cx="27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One-Class SVM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41"/>
          <p:cNvSpPr/>
          <p:nvPr/>
        </p:nvSpPr>
        <p:spPr>
          <a:xfrm>
            <a:off x="3163680" y="469080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传统无监督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42"/>
          <p:cNvSpPr/>
          <p:nvPr/>
        </p:nvSpPr>
        <p:spPr>
          <a:xfrm>
            <a:off x="5541120" y="469080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RBF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核，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nu=0.05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43"/>
          <p:cNvSpPr/>
          <p:nvPr/>
        </p:nvSpPr>
        <p:spPr>
          <a:xfrm>
            <a:off x="10296000" y="46908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待实验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44"/>
          <p:cNvSpPr/>
          <p:nvPr/>
        </p:nvSpPr>
        <p:spPr>
          <a:xfrm>
            <a:off x="255960" y="5248800"/>
            <a:ext cx="11685600" cy="566640"/>
          </a:xfrm>
          <a:prstGeom prst="rect">
            <a:avLst/>
          </a:prstGeom>
          <a:solidFill>
            <a:srgbClr val="F0F4F8"/>
          </a:solidFill>
          <a:ln w="508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Box 45"/>
          <p:cNvSpPr/>
          <p:nvPr/>
        </p:nvSpPr>
        <p:spPr>
          <a:xfrm>
            <a:off x="311040" y="5312520"/>
            <a:ext cx="27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孤立森林 </a:t>
            </a: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46"/>
          <p:cNvSpPr/>
          <p:nvPr/>
        </p:nvSpPr>
        <p:spPr>
          <a:xfrm>
            <a:off x="3163680" y="531252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传统无监督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47"/>
          <p:cNvSpPr/>
          <p:nvPr/>
        </p:nvSpPr>
        <p:spPr>
          <a:xfrm>
            <a:off x="5541120" y="531252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n_estimators=200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，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contamination=0.046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48"/>
          <p:cNvSpPr/>
          <p:nvPr/>
        </p:nvSpPr>
        <p:spPr>
          <a:xfrm>
            <a:off x="10296000" y="53125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待实验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Rectangle 49"/>
          <p:cNvSpPr/>
          <p:nvPr/>
        </p:nvSpPr>
        <p:spPr>
          <a:xfrm>
            <a:off x="255960" y="5870520"/>
            <a:ext cx="11685600" cy="566640"/>
          </a:xfrm>
          <a:prstGeom prst="rect">
            <a:avLst/>
          </a:prstGeom>
          <a:solidFill>
            <a:srgbClr val="F0F4F8"/>
          </a:solidFill>
          <a:ln w="508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9" name="TextBox 50"/>
          <p:cNvSpPr/>
          <p:nvPr/>
        </p:nvSpPr>
        <p:spPr>
          <a:xfrm>
            <a:off x="311040" y="5934600"/>
            <a:ext cx="27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FedProx</a:t>
            </a: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（联邦变体）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51"/>
          <p:cNvSpPr/>
          <p:nvPr/>
        </p:nvSpPr>
        <p:spPr>
          <a:xfrm>
            <a:off x="3163680" y="593460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联邦学习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52"/>
          <p:cNvSpPr/>
          <p:nvPr/>
        </p:nvSpPr>
        <p:spPr>
          <a:xfrm>
            <a:off x="5541120" y="5934600"/>
            <a:ext cx="459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近端正则项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μ=0.01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，对比</a:t>
            </a: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FedAvg</a:t>
            </a:r>
            <a:r>
              <a:rPr lang="zh-CN" sz="9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隐私效用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53"/>
          <p:cNvSpPr/>
          <p:nvPr/>
        </p:nvSpPr>
        <p:spPr>
          <a:xfrm>
            <a:off x="10296000" y="59346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AAAAAA"/>
                </a:solidFill>
                <a:effectLst/>
                <a:uFillTx/>
                <a:latin typeface="Calibri"/>
              </a:rPr>
              <a:t>待实验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54"/>
          <p:cNvSpPr/>
          <p:nvPr/>
        </p:nvSpPr>
        <p:spPr>
          <a:xfrm>
            <a:off x="255960" y="6473880"/>
            <a:ext cx="11685600" cy="1800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5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6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消融实验设计——验证各组件贡献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Ablation Study Design — Validating Each Component's Contribution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9"/>
          <p:cNvSpPr/>
          <p:nvPr/>
        </p:nvSpPr>
        <p:spPr>
          <a:xfrm>
            <a:off x="255960" y="1115640"/>
            <a:ext cx="5714640" cy="328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TextBox 10"/>
          <p:cNvSpPr/>
          <p:nvPr/>
        </p:nvSpPr>
        <p:spPr>
          <a:xfrm>
            <a:off x="347400" y="1152000"/>
            <a:ext cx="5531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消融①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RMT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谱特征的贡献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11"/>
          <p:cNvSpPr/>
          <p:nvPr/>
        </p:nvSpPr>
        <p:spPr>
          <a:xfrm>
            <a:off x="255960" y="1444680"/>
            <a:ext cx="5714640" cy="1298160"/>
          </a:xfrm>
          <a:prstGeom prst="rect">
            <a:avLst/>
          </a:prstGeom>
          <a:solidFill>
            <a:srgbClr val="F0F4F8"/>
          </a:solidFill>
          <a:ln w="15240">
            <a:solidFill>
              <a:srgbClr val="0D2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5" name="TextBox 12"/>
          <p:cNvSpPr/>
          <p:nvPr/>
        </p:nvSpPr>
        <p:spPr>
          <a:xfrm>
            <a:off x="365760" y="14904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去除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谱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Token(Token1~5)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，仅保留统计特征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3"/>
          <p:cNvSpPr/>
          <p:nvPr/>
        </p:nvSpPr>
        <p:spPr>
          <a:xfrm>
            <a:off x="365760" y="192312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→ 验证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谱投影对最终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的独立贡献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14"/>
          <p:cNvSpPr/>
          <p:nvPr/>
        </p:nvSpPr>
        <p:spPr>
          <a:xfrm>
            <a:off x="365760" y="23562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假设：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显著下降（预计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-3~5pp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15"/>
          <p:cNvSpPr/>
          <p:nvPr/>
        </p:nvSpPr>
        <p:spPr>
          <a:xfrm>
            <a:off x="6080760" y="1115640"/>
            <a:ext cx="5851800" cy="328680"/>
          </a:xfrm>
          <a:prstGeom prst="rect">
            <a:avLst/>
          </a:prstGeom>
          <a:solidFill>
            <a:srgbClr val="8B00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TextBox 16"/>
          <p:cNvSpPr/>
          <p:nvPr/>
        </p:nvSpPr>
        <p:spPr>
          <a:xfrm>
            <a:off x="6172200" y="115200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消融② 混沌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Takens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嵌入的贡献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ectangle 17"/>
          <p:cNvSpPr/>
          <p:nvPr/>
        </p:nvSpPr>
        <p:spPr>
          <a:xfrm>
            <a:off x="6080760" y="1444680"/>
            <a:ext cx="5851800" cy="1298160"/>
          </a:xfrm>
          <a:prstGeom prst="rect">
            <a:avLst/>
          </a:prstGeom>
          <a:solidFill>
            <a:srgbClr val="F0F4F8"/>
          </a:solidFill>
          <a:ln w="15240">
            <a:solidFill>
              <a:srgbClr val="8B00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TextBox 18"/>
          <p:cNvSpPr/>
          <p:nvPr/>
        </p:nvSpPr>
        <p:spPr>
          <a:xfrm>
            <a:off x="6190560" y="14904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去除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Takens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混沌嵌入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(Token22~28)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Box 19"/>
          <p:cNvSpPr/>
          <p:nvPr/>
        </p:nvSpPr>
        <p:spPr>
          <a:xfrm>
            <a:off x="6190560" y="192312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→ 验证非线性特征对窃电检测的增益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20"/>
          <p:cNvSpPr/>
          <p:nvPr/>
        </p:nvSpPr>
        <p:spPr>
          <a:xfrm>
            <a:off x="6190560" y="23562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假设：对复杂窃电模式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下降约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2pp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21"/>
          <p:cNvSpPr/>
          <p:nvPr/>
        </p:nvSpPr>
        <p:spPr>
          <a:xfrm>
            <a:off x="255960" y="2834640"/>
            <a:ext cx="5714640" cy="3286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22"/>
          <p:cNvSpPr/>
          <p:nvPr/>
        </p:nvSpPr>
        <p:spPr>
          <a:xfrm>
            <a:off x="347400" y="2871360"/>
            <a:ext cx="5531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消融③ 双路架构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vs 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单路架构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Rectangle 23"/>
          <p:cNvSpPr/>
          <p:nvPr/>
        </p:nvSpPr>
        <p:spPr>
          <a:xfrm>
            <a:off x="255960" y="3163680"/>
            <a:ext cx="5714640" cy="1298160"/>
          </a:xfrm>
          <a:prstGeom prst="rect">
            <a:avLst/>
          </a:prstGeom>
          <a:solidFill>
            <a:srgbClr val="F0F4F8"/>
          </a:solidFill>
          <a:ln w="1524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TextBox 24"/>
          <p:cNvSpPr/>
          <p:nvPr/>
        </p:nvSpPr>
        <p:spPr>
          <a:xfrm>
            <a:off x="365760" y="32094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仅用单路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LocalWindowAttention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（去除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CLS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全局路径）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Box 25"/>
          <p:cNvSpPr/>
          <p:nvPr/>
        </p:nvSpPr>
        <p:spPr>
          <a:xfrm>
            <a:off x="365760" y="364248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→ 验证双路融合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vs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单路的性能差异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Box 26"/>
          <p:cNvSpPr/>
          <p:nvPr/>
        </p:nvSpPr>
        <p:spPr>
          <a:xfrm>
            <a:off x="365760" y="40752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假设：缺少全局依赖导致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下降约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2~4pp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Rectangle 27"/>
          <p:cNvSpPr/>
          <p:nvPr/>
        </p:nvSpPr>
        <p:spPr>
          <a:xfrm>
            <a:off x="6080760" y="2834640"/>
            <a:ext cx="5851800" cy="32868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Box 28"/>
          <p:cNvSpPr/>
          <p:nvPr/>
        </p:nvSpPr>
        <p:spPr>
          <a:xfrm>
            <a:off x="6172200" y="287136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消融④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UserGraphAttention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的贡献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Rectangle 29"/>
          <p:cNvSpPr/>
          <p:nvPr/>
        </p:nvSpPr>
        <p:spPr>
          <a:xfrm>
            <a:off x="6080760" y="3163680"/>
            <a:ext cx="5851800" cy="1298160"/>
          </a:xfrm>
          <a:prstGeom prst="rect">
            <a:avLst/>
          </a:prstGeom>
          <a:solidFill>
            <a:srgbClr val="F0F4F8"/>
          </a:solidFill>
          <a:ln w="15240">
            <a:solidFill>
              <a:srgbClr val="2CA0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TextBox 30"/>
          <p:cNvSpPr/>
          <p:nvPr/>
        </p:nvSpPr>
        <p:spPr>
          <a:xfrm>
            <a:off x="6190560" y="32094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去除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UserGraphAttention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（批内用户图注意力）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31"/>
          <p:cNvSpPr/>
          <p:nvPr/>
        </p:nvSpPr>
        <p:spPr>
          <a:xfrm>
            <a:off x="6190560" y="364248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→ 验证图结构用户关系建模的贡献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32"/>
          <p:cNvSpPr/>
          <p:nvPr/>
        </p:nvSpPr>
        <p:spPr>
          <a:xfrm>
            <a:off x="6190560" y="40752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假设：批内异常传播信号损失，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下降约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1~2pp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33"/>
          <p:cNvSpPr/>
          <p:nvPr/>
        </p:nvSpPr>
        <p:spPr>
          <a:xfrm>
            <a:off x="255960" y="4553640"/>
            <a:ext cx="5714640" cy="328680"/>
          </a:xfrm>
          <a:prstGeom prst="rect">
            <a:avLst/>
          </a:prstGeom>
          <a:solidFill>
            <a:srgbClr val="D627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34"/>
          <p:cNvSpPr/>
          <p:nvPr/>
        </p:nvSpPr>
        <p:spPr>
          <a:xfrm>
            <a:off x="347400" y="4590360"/>
            <a:ext cx="5531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消融⑤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AdaptiveFocalLoss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的贡献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Rectangle 35"/>
          <p:cNvSpPr/>
          <p:nvPr/>
        </p:nvSpPr>
        <p:spPr>
          <a:xfrm>
            <a:off x="255960" y="4883040"/>
            <a:ext cx="5714640" cy="1298160"/>
          </a:xfrm>
          <a:prstGeom prst="rect">
            <a:avLst/>
          </a:prstGeom>
          <a:solidFill>
            <a:srgbClr val="F0F4F8"/>
          </a:solidFill>
          <a:ln w="15240">
            <a:solidFill>
              <a:srgbClr val="D627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Box 36"/>
          <p:cNvSpPr/>
          <p:nvPr/>
        </p:nvSpPr>
        <p:spPr>
          <a:xfrm>
            <a:off x="365760" y="492876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固定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AdaptiveFocalLoss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权重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=1.0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（去除自适应机制）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37"/>
          <p:cNvSpPr/>
          <p:nvPr/>
        </p:nvSpPr>
        <p:spPr>
          <a:xfrm>
            <a:off x="365760" y="536148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→ 验证动态召回权重对不平衡数据的效果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38"/>
          <p:cNvSpPr/>
          <p:nvPr/>
        </p:nvSpPr>
        <p:spPr>
          <a:xfrm>
            <a:off x="365760" y="57942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假设：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F1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显著下降（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影响相对较小）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39"/>
          <p:cNvSpPr/>
          <p:nvPr/>
        </p:nvSpPr>
        <p:spPr>
          <a:xfrm>
            <a:off x="6080760" y="4553640"/>
            <a:ext cx="5851800" cy="3286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3" name="TextBox 40"/>
          <p:cNvSpPr/>
          <p:nvPr/>
        </p:nvSpPr>
        <p:spPr>
          <a:xfrm>
            <a:off x="6172200" y="459036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消融⑥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Stacking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集成的必要性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41"/>
          <p:cNvSpPr/>
          <p:nvPr/>
        </p:nvSpPr>
        <p:spPr>
          <a:xfrm>
            <a:off x="6080760" y="4883040"/>
            <a:ext cx="5851800" cy="1298160"/>
          </a:xfrm>
          <a:prstGeom prst="rect">
            <a:avLst/>
          </a:prstGeom>
          <a:solidFill>
            <a:srgbClr val="F0F4F8"/>
          </a:solidFill>
          <a:ln w="15240">
            <a:solidFill>
              <a:srgbClr val="FF7F0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TextBox 42"/>
          <p:cNvSpPr/>
          <p:nvPr/>
        </p:nvSpPr>
        <p:spPr>
          <a:xfrm>
            <a:off x="6190560" y="492876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去除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Stacking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，仅用单一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输出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43"/>
          <p:cNvSpPr/>
          <p:nvPr/>
        </p:nvSpPr>
        <p:spPr>
          <a:xfrm>
            <a:off x="6190560" y="536148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→ 验证异质集成相对于单模型的增益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44"/>
          <p:cNvSpPr/>
          <p:nvPr/>
        </p:nvSpPr>
        <p:spPr>
          <a:xfrm>
            <a:off x="6190560" y="57942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假设：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AUC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下降约</a:t>
            </a: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0.5~1.5pp</a:t>
            </a:r>
            <a:r>
              <a:rPr lang="zh-CN" sz="11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（验证集成必要性）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Rectangle 45"/>
          <p:cNvSpPr/>
          <p:nvPr/>
        </p:nvSpPr>
        <p:spPr>
          <a:xfrm>
            <a:off x="255960" y="6254640"/>
            <a:ext cx="11685600" cy="23724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9" name="TextBox 46"/>
          <p:cNvSpPr/>
          <p:nvPr/>
        </p:nvSpPr>
        <p:spPr>
          <a:xfrm>
            <a:off x="384120" y="6272640"/>
            <a:ext cx="11246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消融实验策略：每次仅去除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替换一个组件，其余保持最优配置，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折交叉验证取均值，确保统计显著性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2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3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实验结果与性能分析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Experimental Results &amp; Performance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6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14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Rectangle 9"/>
          <p:cNvSpPr/>
          <p:nvPr/>
        </p:nvSpPr>
        <p:spPr>
          <a:xfrm>
            <a:off x="255960" y="1097280"/>
            <a:ext cx="11685600" cy="438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TextBox 10"/>
          <p:cNvSpPr/>
          <p:nvPr/>
        </p:nvSpPr>
        <p:spPr>
          <a:xfrm>
            <a:off x="311040" y="1134000"/>
            <a:ext cx="440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方  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Box 11"/>
          <p:cNvSpPr/>
          <p:nvPr/>
        </p:nvSpPr>
        <p:spPr>
          <a:xfrm>
            <a:off x="4809600" y="113400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12"/>
          <p:cNvSpPr/>
          <p:nvPr/>
        </p:nvSpPr>
        <p:spPr>
          <a:xfrm>
            <a:off x="6958440" y="11340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Box 13"/>
          <p:cNvSpPr/>
          <p:nvPr/>
        </p:nvSpPr>
        <p:spPr>
          <a:xfrm>
            <a:off x="8284320" y="113400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说  明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Rectangle 14"/>
          <p:cNvSpPr/>
          <p:nvPr/>
        </p:nvSpPr>
        <p:spPr>
          <a:xfrm>
            <a:off x="255960" y="1572840"/>
            <a:ext cx="11685600" cy="804240"/>
          </a:xfrm>
          <a:prstGeom prst="rect">
            <a:avLst/>
          </a:prstGeom>
          <a:solidFill>
            <a:srgbClr val="F5F5F5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TextBox 15"/>
          <p:cNvSpPr/>
          <p:nvPr/>
        </p:nvSpPr>
        <p:spPr>
          <a:xfrm>
            <a:off x="311040" y="1664280"/>
            <a:ext cx="4407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谱得分（零标签基线）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Box 16"/>
          <p:cNvSpPr/>
          <p:nvPr/>
        </p:nvSpPr>
        <p:spPr>
          <a:xfrm>
            <a:off x="4809600" y="166428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0.5872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17"/>
          <p:cNvSpPr/>
          <p:nvPr/>
        </p:nvSpPr>
        <p:spPr>
          <a:xfrm>
            <a:off x="6958440" y="166428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N/A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18"/>
          <p:cNvSpPr/>
          <p:nvPr/>
        </p:nvSpPr>
        <p:spPr>
          <a:xfrm>
            <a:off x="8284320" y="166428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无需任何标签，纯随机矩阵理论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ectangle 19"/>
          <p:cNvSpPr/>
          <p:nvPr/>
        </p:nvSpPr>
        <p:spPr>
          <a:xfrm>
            <a:off x="255960" y="2441520"/>
            <a:ext cx="11685600" cy="804240"/>
          </a:xfrm>
          <a:prstGeom prst="rect">
            <a:avLst/>
          </a:prstGeom>
          <a:solidFill>
            <a:srgbClr val="F0F4F8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TextBox 20"/>
          <p:cNvSpPr/>
          <p:nvPr/>
        </p:nvSpPr>
        <p:spPr>
          <a:xfrm>
            <a:off x="311040" y="2532960"/>
            <a:ext cx="4407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双路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28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Token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Box 21"/>
          <p:cNvSpPr/>
          <p:nvPr/>
        </p:nvSpPr>
        <p:spPr>
          <a:xfrm>
            <a:off x="4809600" y="253296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0.7602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Box 22"/>
          <p:cNvSpPr/>
          <p:nvPr/>
        </p:nvSpPr>
        <p:spPr>
          <a:xfrm>
            <a:off x="6958440" y="253296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0.3410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Box 23"/>
          <p:cNvSpPr/>
          <p:nvPr/>
        </p:nvSpPr>
        <p:spPr>
          <a:xfrm>
            <a:off x="8284320" y="253296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LocalWin+CLS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双路，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AdaptiveFocal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Rectangle 24"/>
          <p:cNvSpPr/>
          <p:nvPr/>
        </p:nvSpPr>
        <p:spPr>
          <a:xfrm>
            <a:off x="255960" y="3310200"/>
            <a:ext cx="11685600" cy="804240"/>
          </a:xfrm>
          <a:prstGeom prst="rect">
            <a:avLst/>
          </a:prstGeom>
          <a:solidFill>
            <a:srgbClr val="F5F5F5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4" name="TextBox 25"/>
          <p:cNvSpPr/>
          <p:nvPr/>
        </p:nvSpPr>
        <p:spPr>
          <a:xfrm>
            <a:off x="311040" y="3401640"/>
            <a:ext cx="4407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XGBoost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深度特征）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26"/>
          <p:cNvSpPr/>
          <p:nvPr/>
        </p:nvSpPr>
        <p:spPr>
          <a:xfrm>
            <a:off x="4809600" y="340164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0.7560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27"/>
          <p:cNvSpPr/>
          <p:nvPr/>
        </p:nvSpPr>
        <p:spPr>
          <a:xfrm>
            <a:off x="6958440" y="340164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N/A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Box 28"/>
          <p:cNvSpPr/>
          <p:nvPr/>
        </p:nvSpPr>
        <p:spPr>
          <a:xfrm>
            <a:off x="8284320" y="340164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256+224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维特征，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600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棵树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ectangle 29"/>
          <p:cNvSpPr/>
          <p:nvPr/>
        </p:nvSpPr>
        <p:spPr>
          <a:xfrm>
            <a:off x="255960" y="4178880"/>
            <a:ext cx="11685600" cy="804240"/>
          </a:xfrm>
          <a:prstGeom prst="rect">
            <a:avLst/>
          </a:prstGeom>
          <a:solidFill>
            <a:srgbClr val="F0F4F8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TextBox 30"/>
          <p:cNvSpPr/>
          <p:nvPr/>
        </p:nvSpPr>
        <p:spPr>
          <a:xfrm>
            <a:off x="311040" y="4270320"/>
            <a:ext cx="4407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联邦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（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FedAvg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Box 31"/>
          <p:cNvSpPr/>
          <p:nvPr/>
        </p:nvSpPr>
        <p:spPr>
          <a:xfrm>
            <a:off x="4809600" y="427032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~0.760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Box 32"/>
          <p:cNvSpPr/>
          <p:nvPr/>
        </p:nvSpPr>
        <p:spPr>
          <a:xfrm>
            <a:off x="6958440" y="427032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~0.34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Box 33"/>
          <p:cNvSpPr/>
          <p:nvPr/>
        </p:nvSpPr>
        <p:spPr>
          <a:xfrm>
            <a:off x="8284320" y="427032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3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客户端联邦训练，与集中式相当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Rectangle 34"/>
          <p:cNvSpPr/>
          <p:nvPr/>
        </p:nvSpPr>
        <p:spPr>
          <a:xfrm>
            <a:off x="255960" y="5047560"/>
            <a:ext cx="11685600" cy="804240"/>
          </a:xfrm>
          <a:prstGeom prst="rect">
            <a:avLst/>
          </a:prstGeom>
          <a:solidFill>
            <a:srgbClr val="E8F5E9"/>
          </a:solidFill>
          <a:ln w="6350">
            <a:solidFill>
              <a:srgbClr val="1F77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TextBox 35"/>
          <p:cNvSpPr/>
          <p:nvPr/>
        </p:nvSpPr>
        <p:spPr>
          <a:xfrm>
            <a:off x="311040" y="5139000"/>
            <a:ext cx="4407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集成（</a:t>
            </a:r>
            <a:r>
              <a:rPr lang="en-US" sz="1200" b="0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Transformer+XGBoost</a:t>
            </a:r>
            <a:r>
              <a:rPr lang="zh-CN" sz="1200" b="0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Box 36"/>
          <p:cNvSpPr/>
          <p:nvPr/>
        </p:nvSpPr>
        <p:spPr>
          <a:xfrm>
            <a:off x="4809600" y="513900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0.7651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37"/>
          <p:cNvSpPr/>
          <p:nvPr/>
        </p:nvSpPr>
        <p:spPr>
          <a:xfrm>
            <a:off x="6958440" y="513900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0.3317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38"/>
          <p:cNvSpPr/>
          <p:nvPr/>
        </p:nvSpPr>
        <p:spPr>
          <a:xfrm>
            <a:off x="8284320" y="513900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Stacking</a:t>
            </a:r>
            <a:r>
              <a:rPr lang="zh-CN" sz="1200" b="0" u="none" strike="noStrike">
                <a:solidFill>
                  <a:srgbClr val="2CA02C"/>
                </a:solidFill>
                <a:effectLst/>
                <a:uFillTx/>
                <a:latin typeface="Calibri"/>
              </a:rPr>
              <a:t>元学习融合，最优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Box 39"/>
          <p:cNvSpPr/>
          <p:nvPr/>
        </p:nvSpPr>
        <p:spPr>
          <a:xfrm>
            <a:off x="11750040" y="5139000"/>
            <a:ext cx="365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🏆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Rectangle 40"/>
          <p:cNvSpPr/>
          <p:nvPr/>
        </p:nvSpPr>
        <p:spPr>
          <a:xfrm>
            <a:off x="255960" y="5943600"/>
            <a:ext cx="11685600" cy="59400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0" name="TextBox 41"/>
          <p:cNvSpPr/>
          <p:nvPr/>
        </p:nvSpPr>
        <p:spPr>
          <a:xfrm>
            <a:off x="438840" y="6016680"/>
            <a:ext cx="11246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📈 AUC</a:t>
            </a:r>
            <a:r>
              <a:rPr lang="zh-CN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提升路径：</a:t>
            </a: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0.5872</a:t>
            </a:r>
            <a:r>
              <a:rPr lang="zh-CN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（</a:t>
            </a: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RMT</a:t>
            </a:r>
            <a:r>
              <a:rPr lang="zh-CN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零标签）→ </a:t>
            </a: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0.7602</a:t>
            </a:r>
            <a:r>
              <a:rPr lang="zh-CN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（</a:t>
            </a: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Transformer</a:t>
            </a:r>
            <a:r>
              <a:rPr lang="zh-CN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）→ </a:t>
            </a: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0.7651</a:t>
            </a:r>
            <a:r>
              <a:rPr lang="zh-CN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（集成）  总提升 </a:t>
            </a:r>
            <a:r>
              <a:rPr lang="en-US" sz="1300" b="1" u="none" strike="noStrike">
                <a:solidFill>
                  <a:srgbClr val="FF7F0E"/>
                </a:solidFill>
                <a:effectLst/>
                <a:uFillTx/>
                <a:latin typeface="Calibri"/>
              </a:rPr>
              <a:t>+17.9pp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2" name="Rectangle 2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Rectangle 3"/>
          <p:cNvSpPr/>
          <p:nvPr/>
        </p:nvSpPr>
        <p:spPr>
          <a:xfrm>
            <a:off x="11731680" y="0"/>
            <a:ext cx="456840" cy="100548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TextBox 4"/>
          <p:cNvSpPr/>
          <p:nvPr/>
        </p:nvSpPr>
        <p:spPr>
          <a:xfrm>
            <a:off x="274320" y="640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 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开题对应关系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</a:t>
            </a:r>
            <a:r>
              <a:rPr lang="zh-CN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后续工作计划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5"/>
          <p:cNvSpPr/>
          <p:nvPr/>
        </p:nvSpPr>
        <p:spPr>
          <a:xfrm>
            <a:off x="274320" y="603360"/>
            <a:ext cx="1115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CCEE"/>
                </a:solidFill>
                <a:effectLst/>
                <a:uFillTx/>
                <a:latin typeface="Calibri"/>
              </a:rPr>
              <a:t>Alignment with Proposal &amp; Future 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ectangle 6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TextBox 7"/>
          <p:cNvSpPr/>
          <p:nvPr/>
        </p:nvSpPr>
        <p:spPr>
          <a:xfrm>
            <a:off x="274320" y="655632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联邦谱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Transformer · 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基于</a:t>
            </a:r>
            <a:r>
              <a:rPr lang="en-US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RMT</a:t>
            </a:r>
            <a:r>
              <a:rPr lang="zh-CN" sz="900" b="0" u="none" strike="noStrike">
                <a:solidFill>
                  <a:srgbClr val="88AACC"/>
                </a:solidFill>
                <a:effectLst/>
                <a:uFillTx/>
                <a:latin typeface="Calibri"/>
              </a:rPr>
              <a:t>的电网云边协同异常检测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8"/>
          <p:cNvSpPr/>
          <p:nvPr/>
        </p:nvSpPr>
        <p:spPr>
          <a:xfrm>
            <a:off x="11064240" y="65563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15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Rectangle 9"/>
          <p:cNvSpPr/>
          <p:nvPr/>
        </p:nvSpPr>
        <p:spPr>
          <a:xfrm>
            <a:off x="255960" y="1115640"/>
            <a:ext cx="5714640" cy="32868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0" name="TextBox 10"/>
          <p:cNvSpPr/>
          <p:nvPr/>
        </p:nvSpPr>
        <p:spPr>
          <a:xfrm>
            <a:off x="347400" y="1152000"/>
            <a:ext cx="5531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📋 已完成（对应开题）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Rectangle 11"/>
          <p:cNvSpPr/>
          <p:nvPr/>
        </p:nvSpPr>
        <p:spPr>
          <a:xfrm>
            <a:off x="255960" y="1444680"/>
            <a:ext cx="5714640" cy="3803400"/>
          </a:xfrm>
          <a:prstGeom prst="rect">
            <a:avLst/>
          </a:prstGeom>
          <a:solidFill>
            <a:srgbClr val="F0F4F8"/>
          </a:solidFill>
          <a:ln w="15240">
            <a:solidFill>
              <a:srgbClr val="2CA0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2" name="TextBox 12"/>
          <p:cNvSpPr/>
          <p:nvPr/>
        </p:nvSpPr>
        <p:spPr>
          <a:xfrm>
            <a:off x="365760" y="14904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✅ ① 零标签学习范式（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）— 自适应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M-P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边界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+MAD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估计已实现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13"/>
          <p:cNvSpPr/>
          <p:nvPr/>
        </p:nvSpPr>
        <p:spPr>
          <a:xfrm>
            <a:off x="365760" y="225108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✅ ② 谱特征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+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非线性融合 — 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28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维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Token+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双路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完成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14"/>
          <p:cNvSpPr/>
          <p:nvPr/>
        </p:nvSpPr>
        <p:spPr>
          <a:xfrm>
            <a:off x="365760" y="301212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✅ ③ 联邦协同机制 — 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FedAvg 3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客户端联邦训练验证完毕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15"/>
          <p:cNvSpPr/>
          <p:nvPr/>
        </p:nvSpPr>
        <p:spPr>
          <a:xfrm>
            <a:off x="365760" y="37728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✅ ④ 工程优化 — 向量化特征提取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+torch.compile+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预创建模型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Box 16"/>
          <p:cNvSpPr/>
          <p:nvPr/>
        </p:nvSpPr>
        <p:spPr>
          <a:xfrm>
            <a:off x="365760" y="453348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✅ ⑤ 实验闭环 — 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RMT→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特征→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Transformer→Stacking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全链路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Rectangle 17"/>
          <p:cNvSpPr/>
          <p:nvPr/>
        </p:nvSpPr>
        <p:spPr>
          <a:xfrm>
            <a:off x="6080760" y="1115640"/>
            <a:ext cx="5851800" cy="328680"/>
          </a:xfrm>
          <a:prstGeom prst="rect">
            <a:avLst/>
          </a:prstGeom>
          <a:solidFill>
            <a:srgbClr val="D627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8" name="TextBox 18"/>
          <p:cNvSpPr/>
          <p:nvPr/>
        </p:nvSpPr>
        <p:spPr>
          <a:xfrm>
            <a:off x="6172200" y="115200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🚀 下一步工作（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r>
              <a:rPr lang="zh-C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个月计划）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Rectangle 19"/>
          <p:cNvSpPr/>
          <p:nvPr/>
        </p:nvSpPr>
        <p:spPr>
          <a:xfrm>
            <a:off x="6080760" y="1444680"/>
            <a:ext cx="5851800" cy="3803400"/>
          </a:xfrm>
          <a:prstGeom prst="rect">
            <a:avLst/>
          </a:prstGeom>
          <a:solidFill>
            <a:srgbClr val="F0F4F8"/>
          </a:solidFill>
          <a:ln w="15240">
            <a:solidFill>
              <a:srgbClr val="D627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0" name="TextBox 20"/>
          <p:cNvSpPr/>
          <p:nvPr/>
        </p:nvSpPr>
        <p:spPr>
          <a:xfrm>
            <a:off x="6190560" y="14904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🔄 SA/PSO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启发式搜索最优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协方差子空间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21"/>
          <p:cNvSpPr/>
          <p:nvPr/>
        </p:nvSpPr>
        <p:spPr>
          <a:xfrm>
            <a:off x="6190560" y="203400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🔄 PMU/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真实电网数据（非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AMI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）验证泛化性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Box 22"/>
          <p:cNvSpPr/>
          <p:nvPr/>
        </p:nvSpPr>
        <p:spPr>
          <a:xfrm>
            <a:off x="6190560" y="257724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🔄 完成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LSTM-AE/VAE/OCSVM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对比实验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Box 23"/>
          <p:cNvSpPr/>
          <p:nvPr/>
        </p:nvSpPr>
        <p:spPr>
          <a:xfrm>
            <a:off x="6190560" y="312084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🔄 FedProx vs FedAvg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通信效率量化对比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Box 24"/>
          <p:cNvSpPr/>
          <p:nvPr/>
        </p:nvSpPr>
        <p:spPr>
          <a:xfrm>
            <a:off x="6190560" y="366408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🔄 完成全部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6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项消融实验并统计显著性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25"/>
          <p:cNvSpPr/>
          <p:nvPr/>
        </p:nvSpPr>
        <p:spPr>
          <a:xfrm>
            <a:off x="6190560" y="4207680"/>
            <a:ext cx="5623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🔄 理论推导：</a:t>
            </a: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RMT</a:t>
            </a:r>
            <a:r>
              <a:rPr lang="zh-CN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高维小样本误判率上界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Box 26"/>
          <p:cNvSpPr/>
          <p:nvPr/>
        </p:nvSpPr>
        <p:spPr>
          <a:xfrm>
            <a:off x="6190560" y="4750920"/>
            <a:ext cx="5623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▶ 🔄 撰写论文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Rectangle 27"/>
          <p:cNvSpPr/>
          <p:nvPr/>
        </p:nvSpPr>
        <p:spPr>
          <a:xfrm>
            <a:off x="255960" y="5376600"/>
            <a:ext cx="11685600" cy="80424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TextBox 28"/>
          <p:cNvSpPr/>
          <p:nvPr/>
        </p:nvSpPr>
        <p:spPr>
          <a:xfrm>
            <a:off x="411480" y="543168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💡 核心结论：本文提出的联邦谱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Transformer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框架将三大挑战（标签稀缺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数据隐私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高维难题）一体化解决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RMT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理论与深度学习的有机融合是本文最核心的创新，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AUC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已从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0.5872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提升至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0.7651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（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+17.9pp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0" name="Rectangle 2"/>
          <p:cNvSpPr/>
          <p:nvPr/>
        </p:nvSpPr>
        <p:spPr>
          <a:xfrm>
            <a:off x="0" y="5257800"/>
            <a:ext cx="12188520" cy="6372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1" name="Rectangle 3"/>
          <p:cNvSpPr/>
          <p:nvPr/>
        </p:nvSpPr>
        <p:spPr>
          <a:xfrm>
            <a:off x="0" y="5321880"/>
            <a:ext cx="12188520" cy="1535760"/>
          </a:xfrm>
          <a:prstGeom prst="rect">
            <a:avLst/>
          </a:prstGeom>
          <a:solidFill>
            <a:srgbClr val="061A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Rectangle 4"/>
          <p:cNvSpPr/>
          <p:nvPr/>
        </p:nvSpPr>
        <p:spPr>
          <a:xfrm>
            <a:off x="11457360" y="0"/>
            <a:ext cx="731160" cy="52574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3" name="TextBox 5"/>
          <p:cNvSpPr/>
          <p:nvPr/>
        </p:nvSpPr>
        <p:spPr>
          <a:xfrm>
            <a:off x="914400" y="1371600"/>
            <a:ext cx="10058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5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感谢聆听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Rectangle 6"/>
          <p:cNvSpPr/>
          <p:nvPr/>
        </p:nvSpPr>
        <p:spPr>
          <a:xfrm>
            <a:off x="3200400" y="2697480"/>
            <a:ext cx="5787720" cy="54360"/>
          </a:xfrm>
          <a:prstGeom prst="rect">
            <a:avLst/>
          </a:prstGeom>
          <a:solidFill>
            <a:srgbClr val="FF7F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5" name="TextBox 7"/>
          <p:cNvSpPr/>
          <p:nvPr/>
        </p:nvSpPr>
        <p:spPr>
          <a:xfrm>
            <a:off x="914400" y="2834640"/>
            <a:ext cx="10058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7EC8E3"/>
                </a:solidFill>
                <a:effectLst/>
                <a:uFillTx/>
                <a:latin typeface="Calibri"/>
              </a:rPr>
              <a:t>Thank You &amp; Questions Welcome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Rectangle 8"/>
          <p:cNvSpPr/>
          <p:nvPr/>
        </p:nvSpPr>
        <p:spPr>
          <a:xfrm>
            <a:off x="1371600" y="3547800"/>
            <a:ext cx="2285640" cy="117000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7" name="TextBox 9"/>
          <p:cNvSpPr/>
          <p:nvPr/>
        </p:nvSpPr>
        <p:spPr>
          <a:xfrm>
            <a:off x="1371600" y="36118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0.5872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Box 10"/>
          <p:cNvSpPr/>
          <p:nvPr/>
        </p:nvSpPr>
        <p:spPr>
          <a:xfrm>
            <a:off x="1371600" y="416052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RMT </a:t>
            </a:r>
            <a:r>
              <a:rPr lang="zh-CN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基线 </a:t>
            </a: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AUC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Rectangle 11"/>
          <p:cNvSpPr/>
          <p:nvPr/>
        </p:nvSpPr>
        <p:spPr>
          <a:xfrm>
            <a:off x="4937760" y="3547800"/>
            <a:ext cx="2285640" cy="117000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0" name="TextBox 12"/>
          <p:cNvSpPr/>
          <p:nvPr/>
        </p:nvSpPr>
        <p:spPr>
          <a:xfrm>
            <a:off x="4937760" y="36118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0.7602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13"/>
          <p:cNvSpPr/>
          <p:nvPr/>
        </p:nvSpPr>
        <p:spPr>
          <a:xfrm>
            <a:off x="4937760" y="416052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Transformer AUC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Rectangle 14"/>
          <p:cNvSpPr/>
          <p:nvPr/>
        </p:nvSpPr>
        <p:spPr>
          <a:xfrm>
            <a:off x="8503920" y="3547800"/>
            <a:ext cx="2285640" cy="1170000"/>
          </a:xfrm>
          <a:prstGeom prst="rect">
            <a:avLst/>
          </a:prstGeom>
          <a:solidFill>
            <a:srgbClr val="D627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3" name="TextBox 15"/>
          <p:cNvSpPr/>
          <p:nvPr/>
        </p:nvSpPr>
        <p:spPr>
          <a:xfrm>
            <a:off x="8503920" y="36118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0.7651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Box 16"/>
          <p:cNvSpPr/>
          <p:nvPr/>
        </p:nvSpPr>
        <p:spPr>
          <a:xfrm>
            <a:off x="8503920" y="416052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集成最终 </a:t>
            </a: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AUC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Box 17"/>
          <p:cNvSpPr/>
          <p:nvPr/>
        </p:nvSpPr>
        <p:spPr>
          <a:xfrm>
            <a:off x="914400" y="553212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联邦谱</a:t>
            </a:r>
            <a:r>
              <a:rPr lang="en-US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Transformer</a:t>
            </a:r>
            <a:r>
              <a:rPr lang="zh-CN" sz="1300" b="0" u="none" strike="noStrike">
                <a:solidFill>
                  <a:srgbClr val="88AABB"/>
                </a:solidFill>
                <a:effectLst/>
                <a:uFillTx/>
                <a:latin typeface="Calibri"/>
              </a:rPr>
              <a:t>：基于随机矩阵理论的电网云边协同异常检测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LibreOffice/26.2.2.2$Windows_X86_64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/>
  <dcterms:modified xsi:type="dcterms:W3CDTF">2026-04-10T21:01:12Z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